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proof of concept. Everything shown is the running product, photographed from a real browser driving real footage.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ways in matter commercially: no new hardware is required to trial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Zones belong to the camera they were drawn on — switching cameras hides a set rather than deleting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 timestamp 18 August; the event is filed under 6 August because that is what the footage says. Both are kept, plus the raw text that was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D33"/>
        </a:solidFill>
      </p:bgPr>
    </p:bg>
    <p:spTree>
      <p:nvGrpSpPr>
        <p:cNvPr id="1" name=""/>
        <p:cNvGrpSpPr/>
        <p:nvPr/>
      </p:nvGrpSpPr>
      <p:grpSpPr>
        <a:xfrm>
          <a:off x="0" y="0"/>
          <a:ext cx="0" cy="0"/>
          <a:chOff x="0" y="0"/>
          <a:chExt cx="0" cy="0"/>
        </a:xfrm>
      </p:grpSpPr>
      <p:pic>
        <p:nvPicPr>
          <p:cNvPr id="2" name="Image 0" descr="/home/user/vikasgroup_visual_analytics_fullstack_beta/deploy/deck/shots/restricted-zone.png">    </p:cNvPr>
          <p:cNvPicPr>
            <a:picLocks noChangeAspect="1"/>
          </p:cNvPicPr>
          <p:nvPr/>
        </p:nvPicPr>
        <p:blipFill>
          <a:blip r:embed="rId1">
            <a:alphaModFix amt="88000"/>
          </a:blip>
          <a:srcRect l="0" r="0" t="0" b="0"/>
          <a:stretch/>
        </p:blipFill>
        <p:spPr>
          <a:xfrm>
            <a:off x="6400800" y="0"/>
            <a:ext cx="5760720" cy="6858000"/>
          </a:xfrm>
          <a:prstGeom prst="rect">
            <a:avLst/>
          </a:prstGeom>
        </p:spPr>
      </p:pic>
      <p:sp>
        <p:nvSpPr>
          <p:cNvPr id="3" name="Shape 0"/>
          <p:cNvSpPr/>
          <p:nvPr/>
        </p:nvSpPr>
        <p:spPr>
          <a:xfrm>
            <a:off x="6400800" y="0"/>
            <a:ext cx="5760720" cy="6858000"/>
          </a:xfrm>
          <a:prstGeom prst="rect">
            <a:avLst/>
          </a:prstGeom>
          <a:solidFill>
            <a:srgbClr val="0F1D33">
              <a:alpha val="48000"/>
            </a:srgbClr>
          </a:solidFill>
          <a:ln/>
        </p:spPr>
      </p:sp>
      <p:sp>
        <p:nvSpPr>
          <p:cNvPr id="4" name="Shape 1"/>
          <p:cNvSpPr/>
          <p:nvPr/>
        </p:nvSpPr>
        <p:spPr>
          <a:xfrm>
            <a:off x="685800" y="886968"/>
            <a:ext cx="146304" cy="146304"/>
          </a:xfrm>
          <a:prstGeom prst="ellipse">
            <a:avLst/>
          </a:prstGeom>
          <a:solidFill>
            <a:srgbClr val="F2A413"/>
          </a:solidFill>
          <a:ln w="12700">
            <a:solidFill>
              <a:srgbClr val="F2A413"/>
            </a:solidFill>
            <a:prstDash val="solid"/>
          </a:ln>
        </p:spPr>
      </p:sp>
      <p:sp>
        <p:nvSpPr>
          <p:cNvPr id="5" name="Text 2"/>
          <p:cNvSpPr/>
          <p:nvPr/>
        </p:nvSpPr>
        <p:spPr>
          <a:xfrm>
            <a:off x="941832" y="868680"/>
            <a:ext cx="5120640" cy="219456"/>
          </a:xfrm>
          <a:prstGeom prst="rect">
            <a:avLst/>
          </a:prstGeom>
          <a:noFill/>
          <a:ln/>
        </p:spPr>
        <p:txBody>
          <a:bodyPr wrap="square" lIns="0" tIns="0" rIns="0" bIns="0" rtlCol="0" anchor="ctr"/>
          <a:lstStyle/>
          <a:p>
            <a:pPr indent="0" marL="0">
              <a:buNone/>
            </a:pPr>
            <a:r>
              <a:rPr lang="en-US" sz="1100" b="1" spc="160" kern="0" dirty="0">
                <a:solidFill>
                  <a:srgbClr val="F2A413"/>
                </a:solidFill>
                <a:latin typeface="Calibri" pitchFamily="34" charset="0"/>
                <a:ea typeface="Calibri" pitchFamily="34" charset="-122"/>
                <a:cs typeface="Calibri" pitchFamily="34" charset="-120"/>
              </a:rPr>
              <a:t>AI CAMERA SAFETY MONITORING · PHASE 1 POC</a:t>
            </a:r>
            <a:endParaRPr lang="en-US" sz="1100" dirty="0"/>
          </a:p>
        </p:txBody>
      </p:sp>
      <p:sp>
        <p:nvSpPr>
          <p:cNvPr id="6" name="Text 3"/>
          <p:cNvSpPr/>
          <p:nvPr/>
        </p:nvSpPr>
        <p:spPr>
          <a:xfrm>
            <a:off x="640080" y="1371600"/>
            <a:ext cx="5486400" cy="192024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Visual Analysis</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Dashboard</a:t>
            </a:r>
            <a:endParaRPr lang="en-US" sz="4600" dirty="0"/>
          </a:p>
        </p:txBody>
      </p:sp>
      <p:sp>
        <p:nvSpPr>
          <p:cNvPr id="7" name="Text 4"/>
          <p:cNvSpPr/>
          <p:nvPr/>
        </p:nvSpPr>
        <p:spPr>
          <a:xfrm>
            <a:off x="658368" y="3520440"/>
            <a:ext cx="5120640" cy="1188720"/>
          </a:xfrm>
          <a:prstGeom prst="rect">
            <a:avLst/>
          </a:prstGeom>
          <a:noFill/>
          <a:ln/>
        </p:spPr>
        <p:txBody>
          <a:bodyPr wrap="square" lIns="0" tIns="0" rIns="0" bIns="0" rtlCol="0" anchor="t"/>
          <a:lstStyle/>
          <a:p>
            <a:pPr algn="l" indent="0" marL="0">
              <a:lnSpc>
                <a:spcPts val="2300"/>
              </a:lnSpc>
              <a:buNone/>
            </a:pPr>
            <a:r>
              <a:rPr lang="en-US" sz="1500" dirty="0">
                <a:solidFill>
                  <a:srgbClr val="C6D2E4"/>
                </a:solidFill>
                <a:latin typeface="Calibri" pitchFamily="34" charset="0"/>
                <a:ea typeface="Calibri" pitchFamily="34" charset="-122"/>
                <a:cs typeface="Calibri" pitchFamily="34" charset="-120"/>
              </a:rPr>
              <a:t>Nine safety capabilities watching one plant — and a record that says, for every alert, which camera saw it, where, and on whose clock.</a:t>
            </a:r>
            <a:endParaRPr lang="en-US" sz="1500" dirty="0"/>
          </a:p>
        </p:txBody>
      </p:sp>
      <p:sp>
        <p:nvSpPr>
          <p:cNvPr id="8" name="Text 5"/>
          <p:cNvSpPr/>
          <p:nvPr/>
        </p:nvSpPr>
        <p:spPr>
          <a:xfrm>
            <a:off x="658368" y="5806440"/>
            <a:ext cx="5303520" cy="365760"/>
          </a:xfrm>
          <a:prstGeom prst="rect">
            <a:avLst/>
          </a:prstGeom>
          <a:noFill/>
          <a:ln/>
        </p:spPr>
        <p:txBody>
          <a:bodyPr wrap="square" lIns="0" tIns="0" rIns="0" bIns="0" rtlCol="0" anchor="ctr"/>
          <a:lstStyle/>
          <a:p>
            <a:pPr indent="0" marL="0">
              <a:buNone/>
            </a:pPr>
            <a:r>
              <a:rPr lang="en-US" sz="1250" dirty="0">
                <a:solidFill>
                  <a:srgbClr val="8FA3C0"/>
                </a:solidFill>
                <a:latin typeface="Calibri" pitchFamily="34" charset="0"/>
                <a:ea typeface="Calibri" pitchFamily="34" charset="-122"/>
                <a:cs typeface="Calibri" pitchFamily="34" charset="-120"/>
              </a:rPr>
              <a:t>Vikas Group  ·  built by Rootstock Technology</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66928" y="475488"/>
            <a:ext cx="146304" cy="146304"/>
          </a:xfrm>
          <a:prstGeom prst="ellipse">
            <a:avLst/>
          </a:prstGeom>
          <a:solidFill>
            <a:srgbClr val="F2A413"/>
          </a:solidFill>
          <a:ln w="12700">
            <a:solidFill>
              <a:srgbClr val="F2A413"/>
            </a:solidFill>
            <a:prstDash val="solid"/>
          </a:ln>
        </p:spPr>
      </p:sp>
      <p:sp>
        <p:nvSpPr>
          <p:cNvPr id="3" name="Text 1"/>
          <p:cNvSpPr/>
          <p:nvPr/>
        </p:nvSpPr>
        <p:spPr>
          <a:xfrm>
            <a:off x="822960" y="457200"/>
            <a:ext cx="5943600" cy="219456"/>
          </a:xfrm>
          <a:prstGeom prst="rect">
            <a:avLst/>
          </a:prstGeom>
          <a:noFill/>
          <a:ln/>
        </p:spPr>
        <p:txBody>
          <a:bodyPr wrap="square" lIns="0" tIns="0" rIns="0" bIns="0" rtlCol="0" anchor="ctr"/>
          <a:lstStyle/>
          <a:p>
            <a:pPr indent="0" marL="0">
              <a:buNone/>
            </a:pPr>
            <a:r>
              <a:rPr lang="en-US" sz="1100" b="1" spc="160" kern="0" dirty="0">
                <a:solidFill>
                  <a:srgbClr val="F2A413"/>
                </a:solidFill>
                <a:latin typeface="Calibri" pitchFamily="34" charset="0"/>
                <a:ea typeface="Calibri" pitchFamily="34" charset="-122"/>
                <a:cs typeface="Calibri" pitchFamily="34" charset="-120"/>
              </a:rPr>
              <a:t>AT A GLANCE</a:t>
            </a:r>
            <a:endParaRPr lang="en-US" sz="1100" dirty="0"/>
          </a:p>
        </p:txBody>
      </p:sp>
      <p:sp>
        <p:nvSpPr>
          <p:cNvPr id="4" name="Text 2"/>
          <p:cNvSpPr/>
          <p:nvPr/>
        </p:nvSpPr>
        <p:spPr>
          <a:xfrm>
            <a:off x="566928" y="658368"/>
            <a:ext cx="10607040" cy="822960"/>
          </a:xfrm>
          <a:prstGeom prst="rect">
            <a:avLst/>
          </a:prstGeom>
          <a:noFill/>
          <a:ln/>
        </p:spPr>
        <p:txBody>
          <a:bodyPr wrap="square" lIns="0" tIns="0" rIns="0" bIns="0" rtlCol="0" anchor="ctr"/>
          <a:lstStyle/>
          <a:p>
            <a:pPr indent="0" marL="0">
              <a:buNone/>
            </a:pPr>
            <a:r>
              <a:rPr lang="en-US" sz="3400" b="1" dirty="0">
                <a:solidFill>
                  <a:srgbClr val="14243D"/>
                </a:solidFill>
                <a:latin typeface="Cambria" pitchFamily="34" charset="0"/>
                <a:ea typeface="Cambria" pitchFamily="34" charset="-122"/>
                <a:cs typeface="Cambria" pitchFamily="34" charset="-120"/>
              </a:rPr>
              <a:t>What the system does</a:t>
            </a:r>
            <a:endParaRPr lang="en-US" sz="3400" dirty="0"/>
          </a:p>
        </p:txBody>
      </p:sp>
      <p:sp>
        <p:nvSpPr>
          <p:cNvPr id="5" name="Text 3"/>
          <p:cNvSpPr/>
          <p:nvPr/>
        </p:nvSpPr>
        <p:spPr>
          <a:xfrm>
            <a:off x="566928" y="1572768"/>
            <a:ext cx="5486400" cy="1554480"/>
          </a:xfrm>
          <a:prstGeom prst="rect">
            <a:avLst/>
          </a:prstGeom>
          <a:noFill/>
          <a:ln/>
        </p:spPr>
        <p:txBody>
          <a:bodyPr wrap="square" lIns="0" tIns="0" rIns="0" bIns="0" rtlCol="0" anchor="t"/>
          <a:lstStyle/>
          <a:p>
            <a:pPr algn="l" indent="0" marL="0">
              <a:lnSpc>
                <a:spcPts val="2200"/>
              </a:lnSpc>
              <a:buNone/>
            </a:pPr>
            <a:r>
              <a:rPr lang="en-US" sz="1400" dirty="0">
                <a:solidFill>
                  <a:srgbClr val="5C6E88"/>
                </a:solidFill>
                <a:latin typeface="Calibri" pitchFamily="34" charset="0"/>
                <a:ea typeface="Calibri" pitchFamily="34" charset="-122"/>
                <a:cs typeface="Calibri" pitchFamily="34" charset="-120"/>
              </a:rPr>
              <a:t>Any camera the plant already has — a phone, a laptop webcam, a network camera, or a recording being reviewed — is watched by nine independent capabilities. Each says what it sees in plain words, raises an alarm aloud when it matters, and files the evidence.</a:t>
            </a:r>
            <a:endParaRPr lang="en-US" sz="1400" dirty="0"/>
          </a:p>
        </p:txBody>
      </p:sp>
      <p:sp>
        <p:nvSpPr>
          <p:cNvPr id="6" name="Text 4"/>
          <p:cNvSpPr/>
          <p:nvPr/>
        </p:nvSpPr>
        <p:spPr>
          <a:xfrm>
            <a:off x="566928" y="3154680"/>
            <a:ext cx="960120" cy="777240"/>
          </a:xfrm>
          <a:prstGeom prst="rect">
            <a:avLst/>
          </a:prstGeom>
          <a:noFill/>
          <a:ln/>
        </p:spPr>
        <p:txBody>
          <a:bodyPr wrap="square" lIns="0" tIns="0" rIns="0" bIns="0" rtlCol="0" anchor="ctr"/>
          <a:lstStyle/>
          <a:p>
            <a:pPr algn="r" indent="0" marL="0">
              <a:buNone/>
            </a:pPr>
            <a:r>
              <a:rPr lang="en-US" sz="4000" b="1" dirty="0">
                <a:solidFill>
                  <a:srgbClr val="F2A413"/>
                </a:solidFill>
                <a:latin typeface="Cambria" pitchFamily="34" charset="0"/>
                <a:ea typeface="Cambria" pitchFamily="34" charset="-122"/>
                <a:cs typeface="Cambria" pitchFamily="34" charset="-120"/>
              </a:rPr>
              <a:t>9</a:t>
            </a:r>
            <a:endParaRPr lang="en-US" sz="4000" dirty="0"/>
          </a:p>
        </p:txBody>
      </p:sp>
      <p:sp>
        <p:nvSpPr>
          <p:cNvPr id="7" name="Text 5"/>
          <p:cNvSpPr/>
          <p:nvPr/>
        </p:nvSpPr>
        <p:spPr>
          <a:xfrm>
            <a:off x="1691640" y="3209544"/>
            <a:ext cx="4206240" cy="329184"/>
          </a:xfrm>
          <a:prstGeom prst="rect">
            <a:avLst/>
          </a:prstGeom>
          <a:noFill/>
          <a:ln/>
        </p:spPr>
        <p:txBody>
          <a:bodyPr wrap="square" lIns="0" tIns="0" rIns="0" bIns="0" rtlCol="0" anchor="ctr"/>
          <a:lstStyle/>
          <a:p>
            <a:pPr indent="0" marL="0">
              <a:buNone/>
            </a:pPr>
            <a:r>
              <a:rPr lang="en-US" sz="1450" b="1" dirty="0">
                <a:solidFill>
                  <a:srgbClr val="14243D"/>
                </a:solidFill>
                <a:latin typeface="Calibri" pitchFamily="34" charset="0"/>
                <a:ea typeface="Calibri" pitchFamily="34" charset="-122"/>
                <a:cs typeface="Calibri" pitchFamily="34" charset="-120"/>
              </a:rPr>
              <a:t>monitoring capabilities</a:t>
            </a:r>
            <a:endParaRPr lang="en-US" sz="1450" dirty="0"/>
          </a:p>
        </p:txBody>
      </p:sp>
      <p:sp>
        <p:nvSpPr>
          <p:cNvPr id="8" name="Text 6"/>
          <p:cNvSpPr/>
          <p:nvPr/>
        </p:nvSpPr>
        <p:spPr>
          <a:xfrm>
            <a:off x="1691640" y="3538728"/>
            <a:ext cx="4206240" cy="310896"/>
          </a:xfrm>
          <a:prstGeom prst="rect">
            <a:avLst/>
          </a:prstGeom>
          <a:noFill/>
          <a:ln/>
        </p:spPr>
        <p:txBody>
          <a:bodyPr wrap="square" lIns="0" tIns="0" rIns="0" bIns="0" rtlCol="0" anchor="ctr"/>
          <a:lstStyle/>
          <a:p>
            <a:pPr indent="0" marL="0">
              <a:buNone/>
            </a:pPr>
            <a:r>
              <a:rPr lang="en-US" sz="1150" dirty="0">
                <a:solidFill>
                  <a:srgbClr val="5C6E88"/>
                </a:solidFill>
                <a:latin typeface="Calibri" pitchFamily="34" charset="0"/>
                <a:ea typeface="Calibri" pitchFamily="34" charset="-122"/>
                <a:cs typeface="Calibri" pitchFamily="34" charset="-120"/>
              </a:rPr>
              <a:t>from restricted zones to face masks</a:t>
            </a:r>
            <a:endParaRPr lang="en-US" sz="1150" dirty="0"/>
          </a:p>
        </p:txBody>
      </p:sp>
      <p:sp>
        <p:nvSpPr>
          <p:cNvPr id="9" name="Text 7"/>
          <p:cNvSpPr/>
          <p:nvPr/>
        </p:nvSpPr>
        <p:spPr>
          <a:xfrm>
            <a:off x="566928" y="4206240"/>
            <a:ext cx="960120" cy="777240"/>
          </a:xfrm>
          <a:prstGeom prst="rect">
            <a:avLst/>
          </a:prstGeom>
          <a:noFill/>
          <a:ln/>
        </p:spPr>
        <p:txBody>
          <a:bodyPr wrap="square" lIns="0" tIns="0" rIns="0" bIns="0" rtlCol="0" anchor="ctr"/>
          <a:lstStyle/>
          <a:p>
            <a:pPr algn="r" indent="0" marL="0">
              <a:buNone/>
            </a:pPr>
            <a:r>
              <a:rPr lang="en-US" sz="4000" b="1" dirty="0">
                <a:solidFill>
                  <a:srgbClr val="F2A413"/>
                </a:solidFill>
                <a:latin typeface="Cambria" pitchFamily="34" charset="0"/>
                <a:ea typeface="Cambria" pitchFamily="34" charset="-122"/>
                <a:cs typeface="Cambria" pitchFamily="34" charset="-120"/>
              </a:rPr>
              <a:t>3</a:t>
            </a:r>
            <a:endParaRPr lang="en-US" sz="4000" dirty="0"/>
          </a:p>
        </p:txBody>
      </p:sp>
      <p:sp>
        <p:nvSpPr>
          <p:cNvPr id="10" name="Text 8"/>
          <p:cNvSpPr/>
          <p:nvPr/>
        </p:nvSpPr>
        <p:spPr>
          <a:xfrm>
            <a:off x="1691640" y="4261104"/>
            <a:ext cx="4206240" cy="329184"/>
          </a:xfrm>
          <a:prstGeom prst="rect">
            <a:avLst/>
          </a:prstGeom>
          <a:noFill/>
          <a:ln/>
        </p:spPr>
        <p:txBody>
          <a:bodyPr wrap="square" lIns="0" tIns="0" rIns="0" bIns="0" rtlCol="0" anchor="ctr"/>
          <a:lstStyle/>
          <a:p>
            <a:pPr indent="0" marL="0">
              <a:buNone/>
            </a:pPr>
            <a:r>
              <a:rPr lang="en-US" sz="1450" b="1" dirty="0">
                <a:solidFill>
                  <a:srgbClr val="14243D"/>
                </a:solidFill>
                <a:latin typeface="Calibri" pitchFamily="34" charset="0"/>
                <a:ea typeface="Calibri" pitchFamily="34" charset="-122"/>
                <a:cs typeface="Calibri" pitchFamily="34" charset="-120"/>
              </a:rPr>
              <a:t>ways in</a:t>
            </a:r>
            <a:endParaRPr lang="en-US" sz="1450" dirty="0"/>
          </a:p>
        </p:txBody>
      </p:sp>
      <p:sp>
        <p:nvSpPr>
          <p:cNvPr id="11" name="Text 9"/>
          <p:cNvSpPr/>
          <p:nvPr/>
        </p:nvSpPr>
        <p:spPr>
          <a:xfrm>
            <a:off x="1691640" y="4590288"/>
            <a:ext cx="4206240" cy="310896"/>
          </a:xfrm>
          <a:prstGeom prst="rect">
            <a:avLst/>
          </a:prstGeom>
          <a:noFill/>
          <a:ln/>
        </p:spPr>
        <p:txBody>
          <a:bodyPr wrap="square" lIns="0" tIns="0" rIns="0" bIns="0" rtlCol="0" anchor="ctr"/>
          <a:lstStyle/>
          <a:p>
            <a:pPr indent="0" marL="0">
              <a:buNone/>
            </a:pPr>
            <a:r>
              <a:rPr lang="en-US" sz="1150" dirty="0">
                <a:solidFill>
                  <a:srgbClr val="5C6E88"/>
                </a:solidFill>
                <a:latin typeface="Calibri" pitchFamily="34" charset="0"/>
                <a:ea typeface="Calibri" pitchFamily="34" charset="-122"/>
                <a:cs typeface="Calibri" pitchFamily="34" charset="-120"/>
              </a:rPr>
              <a:t>device camera, recording, network camera</a:t>
            </a:r>
            <a:endParaRPr lang="en-US" sz="1150" dirty="0"/>
          </a:p>
        </p:txBody>
      </p:sp>
      <p:sp>
        <p:nvSpPr>
          <p:cNvPr id="12" name="Text 10"/>
          <p:cNvSpPr/>
          <p:nvPr/>
        </p:nvSpPr>
        <p:spPr>
          <a:xfrm>
            <a:off x="566928" y="5257800"/>
            <a:ext cx="960120" cy="777240"/>
          </a:xfrm>
          <a:prstGeom prst="rect">
            <a:avLst/>
          </a:prstGeom>
          <a:noFill/>
          <a:ln/>
        </p:spPr>
        <p:txBody>
          <a:bodyPr wrap="square" lIns="0" tIns="0" rIns="0" bIns="0" rtlCol="0" anchor="ctr"/>
          <a:lstStyle/>
          <a:p>
            <a:pPr algn="r" indent="0" marL="0">
              <a:buNone/>
            </a:pPr>
            <a:r>
              <a:rPr lang="en-US" sz="4000" b="1" dirty="0">
                <a:solidFill>
                  <a:srgbClr val="F2A413"/>
                </a:solidFill>
                <a:latin typeface="Cambria" pitchFamily="34" charset="0"/>
                <a:ea typeface="Cambria" pitchFamily="34" charset="-122"/>
                <a:cs typeface="Cambria" pitchFamily="34" charset="-120"/>
              </a:rPr>
              <a:t>11</a:t>
            </a:r>
            <a:endParaRPr lang="en-US" sz="4000" dirty="0"/>
          </a:p>
        </p:txBody>
      </p:sp>
      <p:sp>
        <p:nvSpPr>
          <p:cNvPr id="13" name="Text 11"/>
          <p:cNvSpPr/>
          <p:nvPr/>
        </p:nvSpPr>
        <p:spPr>
          <a:xfrm>
            <a:off x="1691640" y="5312664"/>
            <a:ext cx="4206240" cy="329184"/>
          </a:xfrm>
          <a:prstGeom prst="rect">
            <a:avLst/>
          </a:prstGeom>
          <a:noFill/>
          <a:ln/>
        </p:spPr>
        <p:txBody>
          <a:bodyPr wrap="square" lIns="0" tIns="0" rIns="0" bIns="0" rtlCol="0" anchor="ctr"/>
          <a:lstStyle/>
          <a:p>
            <a:pPr indent="0" marL="0">
              <a:buNone/>
            </a:pPr>
            <a:r>
              <a:rPr lang="en-US" sz="1450" b="1" dirty="0">
                <a:solidFill>
                  <a:srgbClr val="14243D"/>
                </a:solidFill>
                <a:latin typeface="Calibri" pitchFamily="34" charset="0"/>
                <a:ea typeface="Calibri" pitchFamily="34" charset="-122"/>
                <a:cs typeface="Calibri" pitchFamily="34" charset="-120"/>
              </a:rPr>
              <a:t>verification suites</a:t>
            </a:r>
            <a:endParaRPr lang="en-US" sz="1450" dirty="0"/>
          </a:p>
        </p:txBody>
      </p:sp>
      <p:sp>
        <p:nvSpPr>
          <p:cNvPr id="14" name="Text 12"/>
          <p:cNvSpPr/>
          <p:nvPr/>
        </p:nvSpPr>
        <p:spPr>
          <a:xfrm>
            <a:off x="1691640" y="5641848"/>
            <a:ext cx="4206240" cy="310896"/>
          </a:xfrm>
          <a:prstGeom prst="rect">
            <a:avLst/>
          </a:prstGeom>
          <a:noFill/>
          <a:ln/>
        </p:spPr>
        <p:txBody>
          <a:bodyPr wrap="square" lIns="0" tIns="0" rIns="0" bIns="0" rtlCol="0" anchor="ctr"/>
          <a:lstStyle/>
          <a:p>
            <a:pPr indent="0" marL="0">
              <a:buNone/>
            </a:pPr>
            <a:r>
              <a:rPr lang="en-US" sz="1150" dirty="0">
                <a:solidFill>
                  <a:srgbClr val="5C6E88"/>
                </a:solidFill>
                <a:latin typeface="Calibri" pitchFamily="34" charset="0"/>
                <a:ea typeface="Calibri" pitchFamily="34" charset="-122"/>
                <a:cs typeface="Calibri" pitchFamily="34" charset="-120"/>
              </a:rPr>
              <a:t>every claim measured, not asserted</a:t>
            </a:r>
            <a:endParaRPr lang="en-US" sz="1150" dirty="0"/>
          </a:p>
        </p:txBody>
      </p:sp>
      <p:sp>
        <p:nvSpPr>
          <p:cNvPr id="15" name="Shape 13"/>
          <p:cNvSpPr/>
          <p:nvPr/>
        </p:nvSpPr>
        <p:spPr>
          <a:xfrm>
            <a:off x="6451092" y="1531620"/>
            <a:ext cx="5202936" cy="3325368"/>
          </a:xfrm>
          <a:prstGeom prst="roundRect">
            <a:avLst>
              <a:gd name="adj" fmla="val 1650"/>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16" name="Image 0" descr="/home/user/vikasgroup_visual_analytics_fullstack_beta/deploy/deck/shots/dashboard.png">    </p:cNvPr>
          <p:cNvPicPr>
            <a:picLocks noChangeAspect="1"/>
          </p:cNvPicPr>
          <p:nvPr/>
        </p:nvPicPr>
        <p:blipFill>
          <a:blip r:embed="rId1"/>
          <a:stretch>
            <a:fillRect/>
          </a:stretch>
        </p:blipFill>
        <p:spPr>
          <a:xfrm>
            <a:off x="6492240" y="1572768"/>
            <a:ext cx="5120640" cy="3243072"/>
          </a:xfrm>
          <a:prstGeom prst="rect">
            <a:avLst/>
          </a:prstGeom>
        </p:spPr>
      </p:pic>
      <p:sp>
        <p:nvSpPr>
          <p:cNvPr id="17" name="Text 14"/>
          <p:cNvSpPr/>
          <p:nvPr/>
        </p:nvSpPr>
        <p:spPr>
          <a:xfrm>
            <a:off x="6492240" y="4934712"/>
            <a:ext cx="5120640" cy="292608"/>
          </a:xfrm>
          <a:prstGeom prst="rect">
            <a:avLst/>
          </a:prstGeom>
          <a:noFill/>
          <a:ln/>
        </p:spPr>
        <p:txBody>
          <a:bodyPr wrap="square" lIns="0" tIns="0" rIns="0" bIns="0" rtlCol="0" anchor="ctr"/>
          <a:lstStyle/>
          <a:p>
            <a:pPr algn="l" indent="0" marL="0">
              <a:buNone/>
            </a:pPr>
            <a:r>
              <a:rPr lang="en-US" sz="1050" i="1" dirty="0">
                <a:solidFill>
                  <a:srgbClr val="5C6E88"/>
                </a:solidFill>
                <a:latin typeface="Calibri" pitchFamily="34" charset="0"/>
                <a:ea typeface="Calibri" pitchFamily="34" charset="-122"/>
                <a:cs typeface="Calibri" pitchFamily="34" charset="-120"/>
              </a:rPr>
              <a:t>What is being watched now, and what needs attention.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146304" cy="146304"/>
          </a:xfrm>
          <a:prstGeom prst="ellipse">
            <a:avLst/>
          </a:prstGeom>
          <a:solidFill>
            <a:srgbClr val="F2A413"/>
          </a:solidFill>
          <a:ln w="12700">
            <a:solidFill>
              <a:srgbClr val="F2A413"/>
            </a:solidFill>
            <a:prstDash val="solid"/>
          </a:ln>
        </p:spPr>
      </p:sp>
      <p:sp>
        <p:nvSpPr>
          <p:cNvPr id="3" name="Text 1"/>
          <p:cNvSpPr/>
          <p:nvPr/>
        </p:nvSpPr>
        <p:spPr>
          <a:xfrm>
            <a:off x="822960" y="457200"/>
            <a:ext cx="5943600" cy="219456"/>
          </a:xfrm>
          <a:prstGeom prst="rect">
            <a:avLst/>
          </a:prstGeom>
          <a:noFill/>
          <a:ln/>
        </p:spPr>
        <p:txBody>
          <a:bodyPr wrap="square" lIns="0" tIns="0" rIns="0" bIns="0" rtlCol="0" anchor="ctr"/>
          <a:lstStyle/>
          <a:p>
            <a:pPr indent="0" marL="0">
              <a:buNone/>
            </a:pPr>
            <a:r>
              <a:rPr lang="en-US" sz="1100" b="1" spc="160" kern="0" dirty="0">
                <a:solidFill>
                  <a:srgbClr val="F2A413"/>
                </a:solidFill>
                <a:latin typeface="Calibri" pitchFamily="34" charset="0"/>
                <a:ea typeface="Calibri" pitchFamily="34" charset="-122"/>
                <a:cs typeface="Calibri" pitchFamily="34" charset="-120"/>
              </a:rPr>
              <a:t>CAPABILITY</a:t>
            </a:r>
            <a:endParaRPr lang="en-US" sz="1100" dirty="0"/>
          </a:p>
        </p:txBody>
      </p:sp>
      <p:sp>
        <p:nvSpPr>
          <p:cNvPr id="4" name="Text 2"/>
          <p:cNvSpPr/>
          <p:nvPr/>
        </p:nvSpPr>
        <p:spPr>
          <a:xfrm>
            <a:off x="566928" y="658368"/>
            <a:ext cx="10607040" cy="822960"/>
          </a:xfrm>
          <a:prstGeom prst="rect">
            <a:avLst/>
          </a:prstGeom>
          <a:noFill/>
          <a:ln/>
        </p:spPr>
        <p:txBody>
          <a:bodyPr wrap="square" lIns="0" tIns="0" rIns="0" bIns="0" rtlCol="0" anchor="ctr"/>
          <a:lstStyle/>
          <a:p>
            <a:pPr indent="0" marL="0">
              <a:buNone/>
            </a:pPr>
            <a:r>
              <a:rPr lang="en-US" sz="3400" b="1" dirty="0">
                <a:solidFill>
                  <a:srgbClr val="14243D"/>
                </a:solidFill>
                <a:latin typeface="Cambria" pitchFamily="34" charset="0"/>
                <a:ea typeface="Cambria" pitchFamily="34" charset="-122"/>
                <a:cs typeface="Cambria" pitchFamily="34" charset="-120"/>
              </a:rPr>
              <a:t>Restricted zones, by name</a:t>
            </a:r>
            <a:endParaRPr lang="en-US" sz="3400" dirty="0"/>
          </a:p>
        </p:txBody>
      </p:sp>
      <p:sp>
        <p:nvSpPr>
          <p:cNvPr id="5" name="Shape 3"/>
          <p:cNvSpPr/>
          <p:nvPr/>
        </p:nvSpPr>
        <p:spPr>
          <a:xfrm>
            <a:off x="525780" y="1440180"/>
            <a:ext cx="6986016" cy="4454652"/>
          </a:xfrm>
          <a:prstGeom prst="roundRect">
            <a:avLst>
              <a:gd name="adj" fmla="val 1232"/>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6" name="Image 0" descr="/home/user/vikasgroup_visual_analytics_fullstack_beta/deploy/deck/shots/restricted-zone.png">    </p:cNvPr>
          <p:cNvPicPr>
            <a:picLocks noChangeAspect="1"/>
          </p:cNvPicPr>
          <p:nvPr/>
        </p:nvPicPr>
        <p:blipFill>
          <a:blip r:embed="rId1"/>
          <a:stretch>
            <a:fillRect/>
          </a:stretch>
        </p:blipFill>
        <p:spPr>
          <a:xfrm>
            <a:off x="566928" y="1481328"/>
            <a:ext cx="6903720" cy="4372356"/>
          </a:xfrm>
          <a:prstGeom prst="rect">
            <a:avLst/>
          </a:prstGeom>
        </p:spPr>
      </p:pic>
      <p:sp>
        <p:nvSpPr>
          <p:cNvPr id="7" name="Text 4"/>
          <p:cNvSpPr/>
          <p:nvPr/>
        </p:nvSpPr>
        <p:spPr>
          <a:xfrm>
            <a:off x="7818120" y="1572768"/>
            <a:ext cx="3794760" cy="274320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350" dirty="0">
                <a:solidFill>
                  <a:srgbClr val="5C6E88"/>
                </a:solidFill>
                <a:latin typeface="Calibri" pitchFamily="34" charset="0"/>
                <a:ea typeface="Calibri" pitchFamily="34" charset="-122"/>
                <a:cs typeface="Calibri" pitchFamily="34" charset="-120"/>
              </a:rPr>
              <a:t>Mark as many zones as the floor needs — each one named.</a:t>
            </a:r>
            <a:endParaRPr lang="en-US" sz="1350" dirty="0"/>
          </a:p>
          <a:p>
            <a:pPr marL="342900" indent="-342900">
              <a:lnSpc>
                <a:spcPts val="1900"/>
              </a:lnSpc>
              <a:spcAft>
                <a:spcPts val="900"/>
              </a:spcAft>
              <a:buSzPct val="100000"/>
              <a:buChar char="•"/>
            </a:pPr>
            <a:r>
              <a:rPr lang="en-US" sz="1350" dirty="0">
                <a:solidFill>
                  <a:srgbClr val="5C6E88"/>
                </a:solidFill>
                <a:latin typeface="Calibri" pitchFamily="34" charset="0"/>
                <a:ea typeface="Calibri" pitchFamily="34" charset="-122"/>
                <a:cs typeface="Calibri" pitchFamily="34" charset="-120"/>
              </a:rPr>
              <a:t>The alarm says the name aloud: “Person is in restricted zone Loading bay.”</a:t>
            </a:r>
            <a:endParaRPr lang="en-US" sz="1350" dirty="0"/>
          </a:p>
          <a:p>
            <a:pPr marL="342900" indent="-342900">
              <a:lnSpc>
                <a:spcPts val="1900"/>
              </a:lnSpc>
              <a:spcAft>
                <a:spcPts val="900"/>
              </a:spcAft>
              <a:buSzPct val="100000"/>
              <a:buChar char="•"/>
            </a:pPr>
            <a:r>
              <a:rPr lang="en-US" sz="1350" dirty="0">
                <a:solidFill>
                  <a:srgbClr val="5C6E88"/>
                </a:solidFill>
                <a:latin typeface="Calibri" pitchFamily="34" charset="0"/>
                <a:ea typeface="Calibri" pitchFamily="34" charset="-122"/>
                <a:cs typeface="Calibri" pitchFamily="34" charset="-120"/>
              </a:rPr>
              <a:t>Standing in a zone is told from walking in front of it, using body position and apparent size.</a:t>
            </a:r>
            <a:endParaRPr lang="en-US" sz="1350" dirty="0"/>
          </a:p>
          <a:p>
            <a:pPr marL="342900" indent="-342900">
              <a:lnSpc>
                <a:spcPts val="1900"/>
              </a:lnSpc>
              <a:spcAft>
                <a:spcPts val="900"/>
              </a:spcAft>
              <a:buSzPct val="100000"/>
              <a:buChar char="•"/>
            </a:pPr>
            <a:r>
              <a:rPr lang="en-US" sz="1350" dirty="0">
                <a:solidFill>
                  <a:srgbClr val="5C6E88"/>
                </a:solidFill>
                <a:latin typeface="Calibri" pitchFamily="34" charset="0"/>
                <a:ea typeface="Calibri" pitchFamily="34" charset="-122"/>
                <a:cs typeface="Calibri" pitchFamily="34" charset="-120"/>
              </a:rPr>
              <a:t>While somebody is inside, the zone counts how long they have been there.</a:t>
            </a:r>
            <a:endParaRPr lang="en-US" sz="1350" dirty="0"/>
          </a:p>
        </p:txBody>
      </p:sp>
      <p:sp>
        <p:nvSpPr>
          <p:cNvPr id="8" name="Shape 5"/>
          <p:cNvSpPr/>
          <p:nvPr/>
        </p:nvSpPr>
        <p:spPr>
          <a:xfrm>
            <a:off x="7776972" y="4530852"/>
            <a:ext cx="3877056" cy="1279176"/>
          </a:xfrm>
          <a:prstGeom prst="roundRect">
            <a:avLst>
              <a:gd name="adj" fmla="val 4289"/>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9" name="Image 1" descr="/home/user/vikasgroup_visual_analytics_fullstack_beta/deploy/deck/shots/zone-occupancy-trim.png">    </p:cNvPr>
          <p:cNvPicPr>
            <a:picLocks noChangeAspect="1"/>
          </p:cNvPicPr>
          <p:nvPr/>
        </p:nvPicPr>
        <p:blipFill>
          <a:blip r:embed="rId2"/>
          <a:stretch>
            <a:fillRect/>
          </a:stretch>
        </p:blipFill>
        <p:spPr>
          <a:xfrm>
            <a:off x="7818120" y="4572000"/>
            <a:ext cx="3794760" cy="1196880"/>
          </a:xfrm>
          <a:prstGeom prst="rect">
            <a:avLst/>
          </a:prstGeom>
        </p:spPr>
      </p:pic>
      <p:sp>
        <p:nvSpPr>
          <p:cNvPr id="10" name="Text 6"/>
          <p:cNvSpPr/>
          <p:nvPr/>
        </p:nvSpPr>
        <p:spPr>
          <a:xfrm>
            <a:off x="7818120" y="5887752"/>
            <a:ext cx="3794760" cy="292608"/>
          </a:xfrm>
          <a:prstGeom prst="rect">
            <a:avLst/>
          </a:prstGeom>
          <a:noFill/>
          <a:ln/>
        </p:spPr>
        <p:txBody>
          <a:bodyPr wrap="square" lIns="0" tIns="0" rIns="0" bIns="0" rtlCol="0" anchor="ctr"/>
          <a:lstStyle/>
          <a:p>
            <a:pPr algn="l" indent="0" marL="0">
              <a:buNone/>
            </a:pPr>
            <a:r>
              <a:rPr lang="en-US" sz="1050" i="1" dirty="0">
                <a:solidFill>
                  <a:srgbClr val="5C6E88"/>
                </a:solidFill>
                <a:latin typeface="Calibri" pitchFamily="34" charset="0"/>
                <a:ea typeface="Calibri" pitchFamily="34" charset="-122"/>
                <a:cs typeface="Calibri" pitchFamily="34" charset="-120"/>
              </a:rPr>
              <a:t>The zone list, counting an intrusion live.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66928" y="475488"/>
            <a:ext cx="146304" cy="146304"/>
          </a:xfrm>
          <a:prstGeom prst="ellipse">
            <a:avLst/>
          </a:prstGeom>
          <a:solidFill>
            <a:srgbClr val="F2A413"/>
          </a:solidFill>
          <a:ln w="12700">
            <a:solidFill>
              <a:srgbClr val="F2A413"/>
            </a:solidFill>
            <a:prstDash val="solid"/>
          </a:ln>
        </p:spPr>
      </p:sp>
      <p:sp>
        <p:nvSpPr>
          <p:cNvPr id="3" name="Text 1"/>
          <p:cNvSpPr/>
          <p:nvPr/>
        </p:nvSpPr>
        <p:spPr>
          <a:xfrm>
            <a:off x="822960" y="457200"/>
            <a:ext cx="5943600" cy="219456"/>
          </a:xfrm>
          <a:prstGeom prst="rect">
            <a:avLst/>
          </a:prstGeom>
          <a:noFill/>
          <a:ln/>
        </p:spPr>
        <p:txBody>
          <a:bodyPr wrap="square" lIns="0" tIns="0" rIns="0" bIns="0" rtlCol="0" anchor="ctr"/>
          <a:lstStyle/>
          <a:p>
            <a:pPr indent="0" marL="0">
              <a:buNone/>
            </a:pPr>
            <a:r>
              <a:rPr lang="en-US" sz="1100" b="1" spc="160" kern="0" dirty="0">
                <a:solidFill>
                  <a:srgbClr val="F2A413"/>
                </a:solidFill>
                <a:latin typeface="Calibri" pitchFamily="34" charset="0"/>
                <a:ea typeface="Calibri" pitchFamily="34" charset="-122"/>
                <a:cs typeface="Calibri" pitchFamily="34" charset="-120"/>
              </a:rPr>
              <a:t>CAPABILITIES</a:t>
            </a:r>
            <a:endParaRPr lang="en-US" sz="1100" dirty="0"/>
          </a:p>
        </p:txBody>
      </p:sp>
      <p:sp>
        <p:nvSpPr>
          <p:cNvPr id="4" name="Text 2"/>
          <p:cNvSpPr/>
          <p:nvPr/>
        </p:nvSpPr>
        <p:spPr>
          <a:xfrm>
            <a:off x="566928" y="658368"/>
            <a:ext cx="10607040" cy="822960"/>
          </a:xfrm>
          <a:prstGeom prst="rect">
            <a:avLst/>
          </a:prstGeom>
          <a:noFill/>
          <a:ln/>
        </p:spPr>
        <p:txBody>
          <a:bodyPr wrap="square" lIns="0" tIns="0" rIns="0" bIns="0" rtlCol="0" anchor="ctr"/>
          <a:lstStyle/>
          <a:p>
            <a:pPr indent="0" marL="0">
              <a:buNone/>
            </a:pPr>
            <a:r>
              <a:rPr lang="en-US" sz="3400" b="1" dirty="0">
                <a:solidFill>
                  <a:srgbClr val="14243D"/>
                </a:solidFill>
                <a:latin typeface="Cambria" pitchFamily="34" charset="0"/>
                <a:ea typeface="Cambria" pitchFamily="34" charset="-122"/>
                <a:cs typeface="Cambria" pitchFamily="34" charset="-120"/>
              </a:rPr>
              <a:t>Blocked walkways, open doors</a:t>
            </a:r>
            <a:endParaRPr lang="en-US" sz="3400" dirty="0"/>
          </a:p>
        </p:txBody>
      </p:sp>
      <p:sp>
        <p:nvSpPr>
          <p:cNvPr id="5" name="Shape 3"/>
          <p:cNvSpPr/>
          <p:nvPr/>
        </p:nvSpPr>
        <p:spPr>
          <a:xfrm>
            <a:off x="525780" y="1440180"/>
            <a:ext cx="5385816" cy="3441192"/>
          </a:xfrm>
          <a:prstGeom prst="roundRect">
            <a:avLst>
              <a:gd name="adj" fmla="val 1594"/>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6" name="Image 0" descr="/home/user/vikasgroup_visual_analytics_fullstack_beta/deploy/deck/shots/walkways.png">    </p:cNvPr>
          <p:cNvPicPr>
            <a:picLocks noChangeAspect="1"/>
          </p:cNvPicPr>
          <p:nvPr/>
        </p:nvPicPr>
        <p:blipFill>
          <a:blip r:embed="rId1"/>
          <a:stretch>
            <a:fillRect/>
          </a:stretch>
        </p:blipFill>
        <p:spPr>
          <a:xfrm>
            <a:off x="566928" y="1481328"/>
            <a:ext cx="5303520" cy="3358896"/>
          </a:xfrm>
          <a:prstGeom prst="rect">
            <a:avLst/>
          </a:prstGeom>
        </p:spPr>
      </p:pic>
      <p:sp>
        <p:nvSpPr>
          <p:cNvPr id="7" name="Text 4"/>
          <p:cNvSpPr/>
          <p:nvPr/>
        </p:nvSpPr>
        <p:spPr>
          <a:xfrm>
            <a:off x="566928" y="4959096"/>
            <a:ext cx="5303520" cy="292608"/>
          </a:xfrm>
          <a:prstGeom prst="rect">
            <a:avLst/>
          </a:prstGeom>
          <a:noFill/>
          <a:ln/>
        </p:spPr>
        <p:txBody>
          <a:bodyPr wrap="square" lIns="0" tIns="0" rIns="0" bIns="0" rtlCol="0" anchor="ctr"/>
          <a:lstStyle/>
          <a:p>
            <a:pPr algn="l" indent="0" marL="0">
              <a:buNone/>
            </a:pPr>
            <a:r>
              <a:rPr lang="en-US" sz="1050" i="1" dirty="0">
                <a:solidFill>
                  <a:srgbClr val="5C6E88"/>
                </a:solidFill>
                <a:latin typeface="Calibri" pitchFamily="34" charset="0"/>
                <a:ea typeface="Calibri" pitchFamily="34" charset="-122"/>
                <a:cs typeface="Calibri" pitchFamily="34" charset="-120"/>
              </a:rPr>
              <a:t>A marked lane that has to stay clear.</a:t>
            </a:r>
            <a:endParaRPr lang="en-US" sz="1050" dirty="0"/>
          </a:p>
        </p:txBody>
      </p:sp>
      <p:sp>
        <p:nvSpPr>
          <p:cNvPr id="8" name="Shape 5"/>
          <p:cNvSpPr/>
          <p:nvPr/>
        </p:nvSpPr>
        <p:spPr>
          <a:xfrm>
            <a:off x="6268212" y="1440180"/>
            <a:ext cx="5385816" cy="3441192"/>
          </a:xfrm>
          <a:prstGeom prst="roundRect">
            <a:avLst>
              <a:gd name="adj" fmla="val 1594"/>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9" name="Image 1" descr="/home/user/vikasgroup_visual_analytics_fullstack_beta/deploy/deck/shots/door.png">    </p:cNvPr>
          <p:cNvPicPr>
            <a:picLocks noChangeAspect="1"/>
          </p:cNvPicPr>
          <p:nvPr/>
        </p:nvPicPr>
        <p:blipFill>
          <a:blip r:embed="rId2"/>
          <a:stretch>
            <a:fillRect/>
          </a:stretch>
        </p:blipFill>
        <p:spPr>
          <a:xfrm>
            <a:off x="6309360" y="1481328"/>
            <a:ext cx="5303520" cy="3358896"/>
          </a:xfrm>
          <a:prstGeom prst="rect">
            <a:avLst/>
          </a:prstGeom>
        </p:spPr>
      </p:pic>
      <p:sp>
        <p:nvSpPr>
          <p:cNvPr id="10" name="Text 6"/>
          <p:cNvSpPr/>
          <p:nvPr/>
        </p:nvSpPr>
        <p:spPr>
          <a:xfrm>
            <a:off x="6309360" y="4959096"/>
            <a:ext cx="5303520" cy="292608"/>
          </a:xfrm>
          <a:prstGeom prst="rect">
            <a:avLst/>
          </a:prstGeom>
          <a:noFill/>
          <a:ln/>
        </p:spPr>
        <p:txBody>
          <a:bodyPr wrap="square" lIns="0" tIns="0" rIns="0" bIns="0" rtlCol="0" anchor="ctr"/>
          <a:lstStyle/>
          <a:p>
            <a:pPr algn="l" indent="0" marL="0">
              <a:buNone/>
            </a:pPr>
            <a:r>
              <a:rPr lang="en-US" sz="1050" i="1" dirty="0">
                <a:solidFill>
                  <a:srgbClr val="5C6E88"/>
                </a:solidFill>
                <a:latin typeface="Calibri" pitchFamily="34" charset="0"/>
                <a:ea typeface="Calibri" pitchFamily="34" charset="-122"/>
                <a:cs typeface="Calibri" pitchFamily="34" charset="-120"/>
              </a:rPr>
              <a:t>Each doorway marked and named, then timed.</a:t>
            </a:r>
            <a:endParaRPr lang="en-US" sz="1050" dirty="0"/>
          </a:p>
        </p:txBody>
      </p:sp>
      <p:sp>
        <p:nvSpPr>
          <p:cNvPr id="11" name="Text 7"/>
          <p:cNvSpPr/>
          <p:nvPr/>
        </p:nvSpPr>
        <p:spPr>
          <a:xfrm>
            <a:off x="566928" y="5394960"/>
            <a:ext cx="5303520" cy="1005840"/>
          </a:xfrm>
          <a:prstGeom prst="rect">
            <a:avLst/>
          </a:prstGeom>
          <a:noFill/>
          <a:ln/>
        </p:spPr>
        <p:txBody>
          <a:bodyPr wrap="square" lIns="0" tIns="0" rIns="0" bIns="0" rtlCol="0" anchor="t"/>
          <a:lstStyle/>
          <a:p>
            <a:pPr algn="l" indent="0" marL="0">
              <a:lnSpc>
                <a:spcPts val="1700"/>
              </a:lnSpc>
              <a:buNone/>
            </a:pPr>
            <a:r>
              <a:rPr lang="en-US" sz="1200" dirty="0">
                <a:solidFill>
                  <a:srgbClr val="5C6E88"/>
                </a:solidFill>
                <a:latin typeface="Calibri" pitchFamily="34" charset="0"/>
                <a:ea typeface="Calibri" pitchFamily="34" charset="-122"/>
                <a:cs typeface="Calibri" pitchFamily="34" charset="-120"/>
              </a:rPr>
              <a:t>The walkway detector carries no object model. It learns what the marked lane's own floor looks like and reports what is not it — which is why it finds a cardboard box nothing was trained on. People are cut out before the floor is judged.</a:t>
            </a:r>
            <a:endParaRPr lang="en-US" sz="1200" dirty="0"/>
          </a:p>
        </p:txBody>
      </p:sp>
      <p:sp>
        <p:nvSpPr>
          <p:cNvPr id="12" name="Text 8"/>
          <p:cNvSpPr/>
          <p:nvPr/>
        </p:nvSpPr>
        <p:spPr>
          <a:xfrm>
            <a:off x="6309360" y="5394960"/>
            <a:ext cx="5303520" cy="1005840"/>
          </a:xfrm>
          <a:prstGeom prst="rect">
            <a:avLst/>
          </a:prstGeom>
          <a:noFill/>
          <a:ln/>
        </p:spPr>
        <p:txBody>
          <a:bodyPr wrap="square" lIns="0" tIns="0" rIns="0" bIns="0" rtlCol="0" anchor="t"/>
          <a:lstStyle/>
          <a:p>
            <a:pPr algn="l" indent="0" marL="0">
              <a:lnSpc>
                <a:spcPts val="1700"/>
              </a:lnSpc>
              <a:buNone/>
            </a:pPr>
            <a:r>
              <a:rPr lang="en-US" sz="1200" dirty="0">
                <a:solidFill>
                  <a:srgbClr val="5C6E88"/>
                </a:solidFill>
                <a:latin typeface="Calibri" pitchFamily="34" charset="0"/>
                <a:ea typeface="Calibri" pitchFamily="34" charset="-122"/>
                <a:cs typeface="Calibri" pitchFamily="34" charset="-120"/>
              </a:rPr>
              <a:t>Doors are watched per doorway, each with its own allowed open time. A state has to be argued for across frames before it is believed, and a doorway whose evidence keeps flipping is called unreliable rather than guessed at.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146304" cy="146304"/>
          </a:xfrm>
          <a:prstGeom prst="ellipse">
            <a:avLst/>
          </a:prstGeom>
          <a:solidFill>
            <a:srgbClr val="F2A413"/>
          </a:solidFill>
          <a:ln w="12700">
            <a:solidFill>
              <a:srgbClr val="F2A413"/>
            </a:solidFill>
            <a:prstDash val="solid"/>
          </a:ln>
        </p:spPr>
      </p:sp>
      <p:sp>
        <p:nvSpPr>
          <p:cNvPr id="3" name="Text 1"/>
          <p:cNvSpPr/>
          <p:nvPr/>
        </p:nvSpPr>
        <p:spPr>
          <a:xfrm>
            <a:off x="822960" y="457200"/>
            <a:ext cx="5943600" cy="219456"/>
          </a:xfrm>
          <a:prstGeom prst="rect">
            <a:avLst/>
          </a:prstGeom>
          <a:noFill/>
          <a:ln/>
        </p:spPr>
        <p:txBody>
          <a:bodyPr wrap="square" lIns="0" tIns="0" rIns="0" bIns="0" rtlCol="0" anchor="ctr"/>
          <a:lstStyle/>
          <a:p>
            <a:pPr indent="0" marL="0">
              <a:buNone/>
            </a:pPr>
            <a:r>
              <a:rPr lang="en-US" sz="1100" b="1" spc="160" kern="0" dirty="0">
                <a:solidFill>
                  <a:srgbClr val="F2A413"/>
                </a:solidFill>
                <a:latin typeface="Calibri" pitchFamily="34" charset="0"/>
                <a:ea typeface="Calibri" pitchFamily="34" charset="-122"/>
                <a:cs typeface="Calibri" pitchFamily="34" charset="-120"/>
              </a:rPr>
              <a:t>CAPABILITIES</a:t>
            </a:r>
            <a:endParaRPr lang="en-US" sz="1100" dirty="0"/>
          </a:p>
        </p:txBody>
      </p:sp>
      <p:sp>
        <p:nvSpPr>
          <p:cNvPr id="4" name="Text 2"/>
          <p:cNvSpPr/>
          <p:nvPr/>
        </p:nvSpPr>
        <p:spPr>
          <a:xfrm>
            <a:off x="566928" y="658368"/>
            <a:ext cx="10607040" cy="822960"/>
          </a:xfrm>
          <a:prstGeom prst="rect">
            <a:avLst/>
          </a:prstGeom>
          <a:noFill/>
          <a:ln/>
        </p:spPr>
        <p:txBody>
          <a:bodyPr wrap="square" lIns="0" tIns="0" rIns="0" bIns="0" rtlCol="0" anchor="ctr"/>
          <a:lstStyle/>
          <a:p>
            <a:pPr indent="0" marL="0">
              <a:buNone/>
            </a:pPr>
            <a:r>
              <a:rPr lang="en-US" sz="3400" b="1" dirty="0">
                <a:solidFill>
                  <a:srgbClr val="14243D"/>
                </a:solidFill>
                <a:latin typeface="Cambria" pitchFamily="34" charset="0"/>
                <a:ea typeface="Cambria" pitchFamily="34" charset="-122"/>
                <a:cs typeface="Cambria" pitchFamily="34" charset="-120"/>
              </a:rPr>
              <a:t>Gear, gloves, masks, faces</a:t>
            </a:r>
            <a:endParaRPr lang="en-US" sz="3400" dirty="0"/>
          </a:p>
        </p:txBody>
      </p:sp>
      <p:sp>
        <p:nvSpPr>
          <p:cNvPr id="5" name="Shape 3"/>
          <p:cNvSpPr/>
          <p:nvPr/>
        </p:nvSpPr>
        <p:spPr>
          <a:xfrm>
            <a:off x="5948172" y="1440180"/>
            <a:ext cx="5705856" cy="3643884"/>
          </a:xfrm>
          <a:prstGeom prst="roundRect">
            <a:avLst>
              <a:gd name="adj" fmla="val 1506"/>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6" name="Image 0" descr="/home/user/vikasgroup_visual_analytics_fullstack_beta/deploy/deck/shots/ppe.png">    </p:cNvPr>
          <p:cNvPicPr>
            <a:picLocks noChangeAspect="1"/>
          </p:cNvPicPr>
          <p:nvPr/>
        </p:nvPicPr>
        <p:blipFill>
          <a:blip r:embed="rId1"/>
          <a:stretch>
            <a:fillRect/>
          </a:stretch>
        </p:blipFill>
        <p:spPr>
          <a:xfrm>
            <a:off x="5989320" y="1481328"/>
            <a:ext cx="5623560" cy="3561588"/>
          </a:xfrm>
          <a:prstGeom prst="rect">
            <a:avLst/>
          </a:prstGeom>
        </p:spPr>
      </p:pic>
      <p:sp>
        <p:nvSpPr>
          <p:cNvPr id="7" name="Shape 4"/>
          <p:cNvSpPr/>
          <p:nvPr/>
        </p:nvSpPr>
        <p:spPr>
          <a:xfrm>
            <a:off x="566928" y="1618488"/>
            <a:ext cx="274320" cy="274320"/>
          </a:xfrm>
          <a:prstGeom prst="ellipse">
            <a:avLst/>
          </a:prstGeom>
          <a:solidFill>
            <a:srgbClr val="FDEBCB"/>
          </a:solidFill>
          <a:ln w="12700">
            <a:solidFill>
              <a:srgbClr val="FDEBCB"/>
            </a:solidFill>
            <a:prstDash val="solid"/>
          </a:ln>
        </p:spPr>
      </p:sp>
      <p:sp>
        <p:nvSpPr>
          <p:cNvPr id="8" name="Shape 5"/>
          <p:cNvSpPr/>
          <p:nvPr/>
        </p:nvSpPr>
        <p:spPr>
          <a:xfrm>
            <a:off x="653796" y="1705356"/>
            <a:ext cx="100584" cy="100584"/>
          </a:xfrm>
          <a:prstGeom prst="ellipse">
            <a:avLst/>
          </a:prstGeom>
          <a:solidFill>
            <a:srgbClr val="F2A413"/>
          </a:solidFill>
          <a:ln w="12700">
            <a:solidFill>
              <a:srgbClr val="F2A413"/>
            </a:solidFill>
            <a:prstDash val="solid"/>
          </a:ln>
        </p:spPr>
      </p:sp>
      <p:sp>
        <p:nvSpPr>
          <p:cNvPr id="9" name="Text 6"/>
          <p:cNvSpPr/>
          <p:nvPr/>
        </p:nvSpPr>
        <p:spPr>
          <a:xfrm>
            <a:off x="987552" y="1572768"/>
            <a:ext cx="4480560" cy="329184"/>
          </a:xfrm>
          <a:prstGeom prst="rect">
            <a:avLst/>
          </a:prstGeom>
          <a:noFill/>
          <a:ln/>
        </p:spPr>
        <p:txBody>
          <a:bodyPr wrap="square" lIns="0" tIns="0" rIns="0" bIns="0" rtlCol="0" anchor="ctr"/>
          <a:lstStyle/>
          <a:p>
            <a:pPr indent="0" marL="0">
              <a:buNone/>
            </a:pPr>
            <a:r>
              <a:rPr lang="en-US" sz="1450" b="1" dirty="0">
                <a:solidFill>
                  <a:srgbClr val="14243D"/>
                </a:solidFill>
                <a:latin typeface="Calibri" pitchFamily="34" charset="0"/>
                <a:ea typeface="Calibri" pitchFamily="34" charset="-122"/>
                <a:cs typeface="Calibri" pitchFamily="34" charset="-120"/>
              </a:rPr>
              <a:t>Safety gear</a:t>
            </a:r>
            <a:endParaRPr lang="en-US" sz="1450" dirty="0"/>
          </a:p>
        </p:txBody>
      </p:sp>
      <p:sp>
        <p:nvSpPr>
          <p:cNvPr id="10" name="Text 7"/>
          <p:cNvSpPr/>
          <p:nvPr/>
        </p:nvSpPr>
        <p:spPr>
          <a:xfrm>
            <a:off x="987552" y="1901952"/>
            <a:ext cx="4663440" cy="548640"/>
          </a:xfrm>
          <a:prstGeom prst="rect">
            <a:avLst/>
          </a:prstGeom>
          <a:noFill/>
          <a:ln/>
        </p:spPr>
        <p:txBody>
          <a:bodyPr wrap="square" lIns="0" tIns="0" rIns="0" bIns="0" rtlCol="0" anchor="ctr"/>
          <a:lstStyle/>
          <a:p>
            <a:pPr indent="0" marL="0">
              <a:lnSpc>
                <a:spcPts val="1600"/>
              </a:lnSpc>
              <a:buNone/>
            </a:pPr>
            <a:r>
              <a:rPr lang="en-US" sz="1200" dirty="0">
                <a:solidFill>
                  <a:srgbClr val="5C6E88"/>
                </a:solidFill>
                <a:latin typeface="Calibri" pitchFamily="34" charset="0"/>
                <a:ea typeface="Calibri" pitchFamily="34" charset="-122"/>
                <a:cs typeface="Calibri" pitchFamily="34" charset="-120"/>
              </a:rPr>
              <a:t>Helmet and vest, checked per person, with a count of who is missing what.</a:t>
            </a:r>
            <a:endParaRPr lang="en-US" sz="1200" dirty="0"/>
          </a:p>
        </p:txBody>
      </p:sp>
      <p:sp>
        <p:nvSpPr>
          <p:cNvPr id="11" name="Shape 8"/>
          <p:cNvSpPr/>
          <p:nvPr/>
        </p:nvSpPr>
        <p:spPr>
          <a:xfrm>
            <a:off x="566928" y="2679192"/>
            <a:ext cx="274320" cy="274320"/>
          </a:xfrm>
          <a:prstGeom prst="ellipse">
            <a:avLst/>
          </a:prstGeom>
          <a:solidFill>
            <a:srgbClr val="FDEBCB"/>
          </a:solidFill>
          <a:ln w="12700">
            <a:solidFill>
              <a:srgbClr val="FDEBCB"/>
            </a:solidFill>
            <a:prstDash val="solid"/>
          </a:ln>
        </p:spPr>
      </p:sp>
      <p:sp>
        <p:nvSpPr>
          <p:cNvPr id="12" name="Shape 9"/>
          <p:cNvSpPr/>
          <p:nvPr/>
        </p:nvSpPr>
        <p:spPr>
          <a:xfrm>
            <a:off x="653796" y="2766060"/>
            <a:ext cx="100584" cy="100584"/>
          </a:xfrm>
          <a:prstGeom prst="ellipse">
            <a:avLst/>
          </a:prstGeom>
          <a:solidFill>
            <a:srgbClr val="F2A413"/>
          </a:solidFill>
          <a:ln w="12700">
            <a:solidFill>
              <a:srgbClr val="F2A413"/>
            </a:solidFill>
            <a:prstDash val="solid"/>
          </a:ln>
        </p:spPr>
      </p:sp>
      <p:sp>
        <p:nvSpPr>
          <p:cNvPr id="13" name="Text 10"/>
          <p:cNvSpPr/>
          <p:nvPr/>
        </p:nvSpPr>
        <p:spPr>
          <a:xfrm>
            <a:off x="987552" y="2633472"/>
            <a:ext cx="4480560" cy="329184"/>
          </a:xfrm>
          <a:prstGeom prst="rect">
            <a:avLst/>
          </a:prstGeom>
          <a:noFill/>
          <a:ln/>
        </p:spPr>
        <p:txBody>
          <a:bodyPr wrap="square" lIns="0" tIns="0" rIns="0" bIns="0" rtlCol="0" anchor="ctr"/>
          <a:lstStyle/>
          <a:p>
            <a:pPr indent="0" marL="0">
              <a:buNone/>
            </a:pPr>
            <a:r>
              <a:rPr lang="en-US" sz="1450" b="1" dirty="0">
                <a:solidFill>
                  <a:srgbClr val="14243D"/>
                </a:solidFill>
                <a:latin typeface="Calibri" pitchFamily="34" charset="0"/>
                <a:ea typeface="Calibri" pitchFamily="34" charset="-122"/>
                <a:cs typeface="Calibri" pitchFamily="34" charset="-120"/>
              </a:rPr>
              <a:t>Gloves</a:t>
            </a:r>
            <a:endParaRPr lang="en-US" sz="1450" dirty="0"/>
          </a:p>
        </p:txBody>
      </p:sp>
      <p:sp>
        <p:nvSpPr>
          <p:cNvPr id="14" name="Text 11"/>
          <p:cNvSpPr/>
          <p:nvPr/>
        </p:nvSpPr>
        <p:spPr>
          <a:xfrm>
            <a:off x="987552" y="2962656"/>
            <a:ext cx="4663440" cy="548640"/>
          </a:xfrm>
          <a:prstGeom prst="rect">
            <a:avLst/>
          </a:prstGeom>
          <a:noFill/>
          <a:ln/>
        </p:spPr>
        <p:txBody>
          <a:bodyPr wrap="square" lIns="0" tIns="0" rIns="0" bIns="0" rtlCol="0" anchor="ctr"/>
          <a:lstStyle/>
          <a:p>
            <a:pPr indent="0" marL="0">
              <a:lnSpc>
                <a:spcPts val="1600"/>
              </a:lnSpc>
              <a:buNone/>
            </a:pPr>
            <a:r>
              <a:rPr lang="en-US" sz="1200" dirty="0">
                <a:solidFill>
                  <a:srgbClr val="5C6E88"/>
                </a:solidFill>
                <a:latin typeface="Calibri" pitchFamily="34" charset="0"/>
                <a:ea typeface="Calibri" pitchFamily="34" charset="-122"/>
                <a:cs typeface="Calibri" pitchFamily="34" charset="-120"/>
              </a:rPr>
              <a:t>Bare hands where gloves are required — attributed to the person they belong to.</a:t>
            </a:r>
            <a:endParaRPr lang="en-US" sz="1200" dirty="0"/>
          </a:p>
        </p:txBody>
      </p:sp>
      <p:sp>
        <p:nvSpPr>
          <p:cNvPr id="15" name="Shape 12"/>
          <p:cNvSpPr/>
          <p:nvPr/>
        </p:nvSpPr>
        <p:spPr>
          <a:xfrm>
            <a:off x="566928" y="3739896"/>
            <a:ext cx="274320" cy="274320"/>
          </a:xfrm>
          <a:prstGeom prst="ellipse">
            <a:avLst/>
          </a:prstGeom>
          <a:solidFill>
            <a:srgbClr val="FDEBCB"/>
          </a:solidFill>
          <a:ln w="12700">
            <a:solidFill>
              <a:srgbClr val="FDEBCB"/>
            </a:solidFill>
            <a:prstDash val="solid"/>
          </a:ln>
        </p:spPr>
      </p:sp>
      <p:sp>
        <p:nvSpPr>
          <p:cNvPr id="16" name="Shape 13"/>
          <p:cNvSpPr/>
          <p:nvPr/>
        </p:nvSpPr>
        <p:spPr>
          <a:xfrm>
            <a:off x="653796" y="3826764"/>
            <a:ext cx="100584" cy="100584"/>
          </a:xfrm>
          <a:prstGeom prst="ellipse">
            <a:avLst/>
          </a:prstGeom>
          <a:solidFill>
            <a:srgbClr val="F2A413"/>
          </a:solidFill>
          <a:ln w="12700">
            <a:solidFill>
              <a:srgbClr val="F2A413"/>
            </a:solidFill>
            <a:prstDash val="solid"/>
          </a:ln>
        </p:spPr>
      </p:sp>
      <p:sp>
        <p:nvSpPr>
          <p:cNvPr id="17" name="Text 14"/>
          <p:cNvSpPr/>
          <p:nvPr/>
        </p:nvSpPr>
        <p:spPr>
          <a:xfrm>
            <a:off x="987552" y="3694176"/>
            <a:ext cx="4480560" cy="329184"/>
          </a:xfrm>
          <a:prstGeom prst="rect">
            <a:avLst/>
          </a:prstGeom>
          <a:noFill/>
          <a:ln/>
        </p:spPr>
        <p:txBody>
          <a:bodyPr wrap="square" lIns="0" tIns="0" rIns="0" bIns="0" rtlCol="0" anchor="ctr"/>
          <a:lstStyle/>
          <a:p>
            <a:pPr indent="0" marL="0">
              <a:buNone/>
            </a:pPr>
            <a:r>
              <a:rPr lang="en-US" sz="1450" b="1" dirty="0">
                <a:solidFill>
                  <a:srgbClr val="14243D"/>
                </a:solidFill>
                <a:latin typeface="Calibri" pitchFamily="34" charset="0"/>
                <a:ea typeface="Calibri" pitchFamily="34" charset="-122"/>
                <a:cs typeface="Calibri" pitchFamily="34" charset="-120"/>
              </a:rPr>
              <a:t>Face masks</a:t>
            </a:r>
            <a:endParaRPr lang="en-US" sz="1450" dirty="0"/>
          </a:p>
        </p:txBody>
      </p:sp>
      <p:sp>
        <p:nvSpPr>
          <p:cNvPr id="18" name="Text 15"/>
          <p:cNvSpPr/>
          <p:nvPr/>
        </p:nvSpPr>
        <p:spPr>
          <a:xfrm>
            <a:off x="987552" y="4023360"/>
            <a:ext cx="4663440" cy="548640"/>
          </a:xfrm>
          <a:prstGeom prst="rect">
            <a:avLst/>
          </a:prstGeom>
          <a:noFill/>
          <a:ln/>
        </p:spPr>
        <p:txBody>
          <a:bodyPr wrap="square" lIns="0" tIns="0" rIns="0" bIns="0" rtlCol="0" anchor="ctr"/>
          <a:lstStyle/>
          <a:p>
            <a:pPr indent="0" marL="0">
              <a:lnSpc>
                <a:spcPts val="1600"/>
              </a:lnSpc>
              <a:buNone/>
            </a:pPr>
            <a:r>
              <a:rPr lang="en-US" sz="1200" dirty="0">
                <a:solidFill>
                  <a:srgbClr val="5C6E88"/>
                </a:solidFill>
                <a:latin typeface="Calibri" pitchFamily="34" charset="0"/>
                <a:ea typeface="Calibri" pitchFamily="34" charset="-122"/>
                <a:cs typeface="Calibri" pitchFamily="34" charset="-120"/>
              </a:rPr>
              <a:t>Checked only once there is head evidence, so a back turned is never an accusation.</a:t>
            </a:r>
            <a:endParaRPr lang="en-US" sz="1200" dirty="0"/>
          </a:p>
        </p:txBody>
      </p:sp>
      <p:sp>
        <p:nvSpPr>
          <p:cNvPr id="19" name="Shape 16"/>
          <p:cNvSpPr/>
          <p:nvPr/>
        </p:nvSpPr>
        <p:spPr>
          <a:xfrm>
            <a:off x="566928" y="4800600"/>
            <a:ext cx="274320" cy="274320"/>
          </a:xfrm>
          <a:prstGeom prst="ellipse">
            <a:avLst/>
          </a:prstGeom>
          <a:solidFill>
            <a:srgbClr val="FDEBCB"/>
          </a:solidFill>
          <a:ln w="12700">
            <a:solidFill>
              <a:srgbClr val="FDEBCB"/>
            </a:solidFill>
            <a:prstDash val="solid"/>
          </a:ln>
        </p:spPr>
      </p:sp>
      <p:sp>
        <p:nvSpPr>
          <p:cNvPr id="20" name="Shape 17"/>
          <p:cNvSpPr/>
          <p:nvPr/>
        </p:nvSpPr>
        <p:spPr>
          <a:xfrm>
            <a:off x="653796" y="4887468"/>
            <a:ext cx="100584" cy="100584"/>
          </a:xfrm>
          <a:prstGeom prst="ellipse">
            <a:avLst/>
          </a:prstGeom>
          <a:solidFill>
            <a:srgbClr val="F2A413"/>
          </a:solidFill>
          <a:ln w="12700">
            <a:solidFill>
              <a:srgbClr val="F2A413"/>
            </a:solidFill>
            <a:prstDash val="solid"/>
          </a:ln>
        </p:spPr>
      </p:sp>
      <p:sp>
        <p:nvSpPr>
          <p:cNvPr id="21" name="Text 18"/>
          <p:cNvSpPr/>
          <p:nvPr/>
        </p:nvSpPr>
        <p:spPr>
          <a:xfrm>
            <a:off x="987552" y="4754880"/>
            <a:ext cx="4480560" cy="329184"/>
          </a:xfrm>
          <a:prstGeom prst="rect">
            <a:avLst/>
          </a:prstGeom>
          <a:noFill/>
          <a:ln/>
        </p:spPr>
        <p:txBody>
          <a:bodyPr wrap="square" lIns="0" tIns="0" rIns="0" bIns="0" rtlCol="0" anchor="ctr"/>
          <a:lstStyle/>
          <a:p>
            <a:pPr indent="0" marL="0">
              <a:buNone/>
            </a:pPr>
            <a:r>
              <a:rPr lang="en-US" sz="1450" b="1" dirty="0">
                <a:solidFill>
                  <a:srgbClr val="14243D"/>
                </a:solidFill>
                <a:latin typeface="Calibri" pitchFamily="34" charset="0"/>
                <a:ea typeface="Calibri" pitchFamily="34" charset="-122"/>
                <a:cs typeface="Calibri" pitchFamily="34" charset="-120"/>
              </a:rPr>
              <a:t>Face recognition</a:t>
            </a:r>
            <a:endParaRPr lang="en-US" sz="1450" dirty="0"/>
          </a:p>
        </p:txBody>
      </p:sp>
      <p:sp>
        <p:nvSpPr>
          <p:cNvPr id="22" name="Text 19"/>
          <p:cNvSpPr/>
          <p:nvPr/>
        </p:nvSpPr>
        <p:spPr>
          <a:xfrm>
            <a:off x="987552" y="5084064"/>
            <a:ext cx="4663440" cy="548640"/>
          </a:xfrm>
          <a:prstGeom prst="rect">
            <a:avLst/>
          </a:prstGeom>
          <a:noFill/>
          <a:ln/>
        </p:spPr>
        <p:txBody>
          <a:bodyPr wrap="square" lIns="0" tIns="0" rIns="0" bIns="0" rtlCol="0" anchor="ctr"/>
          <a:lstStyle/>
          <a:p>
            <a:pPr indent="0" marL="0">
              <a:lnSpc>
                <a:spcPts val="1600"/>
              </a:lnSpc>
              <a:buNone/>
            </a:pPr>
            <a:r>
              <a:rPr lang="en-US" sz="1200" dirty="0">
                <a:solidFill>
                  <a:srgbClr val="5C6E88"/>
                </a:solidFill>
                <a:latin typeface="Calibri" pitchFamily="34" charset="0"/>
                <a:ea typeface="Calibri" pitchFamily="34" charset="-122"/>
                <a:cs typeface="Calibri" pitchFamily="34" charset="-120"/>
              </a:rPr>
              <a:t>Registered people announced by name the moment they appear on any input.</a:t>
            </a:r>
            <a:endParaRPr lang="en-US" sz="1200" dirty="0"/>
          </a:p>
        </p:txBody>
      </p:sp>
      <p:sp>
        <p:nvSpPr>
          <p:cNvPr id="23" name="Text 20"/>
          <p:cNvSpPr/>
          <p:nvPr/>
        </p:nvSpPr>
        <p:spPr>
          <a:xfrm>
            <a:off x="5989320" y="5285232"/>
            <a:ext cx="5623560" cy="457200"/>
          </a:xfrm>
          <a:prstGeom prst="rect">
            <a:avLst/>
          </a:prstGeom>
          <a:noFill/>
          <a:ln/>
        </p:spPr>
        <p:txBody>
          <a:bodyPr wrap="square" lIns="0" tIns="0" rIns="0" bIns="0" rtlCol="0" anchor="t"/>
          <a:lstStyle/>
          <a:p>
            <a:pPr algn="l" indent="0" marL="0">
              <a:lnSpc>
                <a:spcPts val="1800"/>
              </a:lnSpc>
              <a:buNone/>
            </a:pPr>
            <a:r>
              <a:rPr lang="en-US" sz="1250" dirty="0">
                <a:solidFill>
                  <a:srgbClr val="14243D"/>
                </a:solidFill>
                <a:latin typeface="Calibri" pitchFamily="34" charset="0"/>
                <a:ea typeface="Calibri" pitchFamily="34" charset="-122"/>
                <a:cs typeface="Calibri" pitchFamily="34" charset="-120"/>
              </a:rPr>
              <a:t>A weak detection can raise a question, never grant a green tick.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66928" y="475488"/>
            <a:ext cx="146304" cy="146304"/>
          </a:xfrm>
          <a:prstGeom prst="ellipse">
            <a:avLst/>
          </a:prstGeom>
          <a:solidFill>
            <a:srgbClr val="F2A413"/>
          </a:solidFill>
          <a:ln w="12700">
            <a:solidFill>
              <a:srgbClr val="F2A413"/>
            </a:solidFill>
            <a:prstDash val="solid"/>
          </a:ln>
        </p:spPr>
      </p:sp>
      <p:sp>
        <p:nvSpPr>
          <p:cNvPr id="3" name="Text 1"/>
          <p:cNvSpPr/>
          <p:nvPr/>
        </p:nvSpPr>
        <p:spPr>
          <a:xfrm>
            <a:off x="822960" y="457200"/>
            <a:ext cx="5943600" cy="219456"/>
          </a:xfrm>
          <a:prstGeom prst="rect">
            <a:avLst/>
          </a:prstGeom>
          <a:noFill/>
          <a:ln/>
        </p:spPr>
        <p:txBody>
          <a:bodyPr wrap="square" lIns="0" tIns="0" rIns="0" bIns="0" rtlCol="0" anchor="ctr"/>
          <a:lstStyle/>
          <a:p>
            <a:pPr indent="0" marL="0">
              <a:buNone/>
            </a:pPr>
            <a:r>
              <a:rPr lang="en-US" sz="1100" b="1" spc="160" kern="0" dirty="0">
                <a:solidFill>
                  <a:srgbClr val="F2A413"/>
                </a:solidFill>
                <a:latin typeface="Calibri" pitchFamily="34" charset="0"/>
                <a:ea typeface="Calibri" pitchFamily="34" charset="-122"/>
                <a:cs typeface="Calibri" pitchFamily="34" charset="-120"/>
              </a:rPr>
              <a:t>CAPABILITY</a:t>
            </a:r>
            <a:endParaRPr lang="en-US" sz="1100" dirty="0"/>
          </a:p>
        </p:txBody>
      </p:sp>
      <p:sp>
        <p:nvSpPr>
          <p:cNvPr id="4" name="Text 2"/>
          <p:cNvSpPr/>
          <p:nvPr/>
        </p:nvSpPr>
        <p:spPr>
          <a:xfrm>
            <a:off x="566928" y="658368"/>
            <a:ext cx="10607040" cy="822960"/>
          </a:xfrm>
          <a:prstGeom prst="rect">
            <a:avLst/>
          </a:prstGeom>
          <a:noFill/>
          <a:ln/>
        </p:spPr>
        <p:txBody>
          <a:bodyPr wrap="square" lIns="0" tIns="0" rIns="0" bIns="0" rtlCol="0" anchor="ctr"/>
          <a:lstStyle/>
          <a:p>
            <a:pPr indent="0" marL="0">
              <a:buNone/>
            </a:pPr>
            <a:r>
              <a:rPr lang="en-US" sz="3400" b="1" dirty="0">
                <a:solidFill>
                  <a:srgbClr val="14243D"/>
                </a:solidFill>
                <a:latin typeface="Cambria" pitchFamily="34" charset="0"/>
                <a:ea typeface="Cambria" pitchFamily="34" charset="-122"/>
                <a:cs typeface="Cambria" pitchFamily="34" charset="-120"/>
              </a:rPr>
              <a:t>Workstations, hour by hour</a:t>
            </a:r>
            <a:endParaRPr lang="en-US" sz="3400" dirty="0"/>
          </a:p>
        </p:txBody>
      </p:sp>
      <p:sp>
        <p:nvSpPr>
          <p:cNvPr id="5" name="Shape 3"/>
          <p:cNvSpPr/>
          <p:nvPr/>
        </p:nvSpPr>
        <p:spPr>
          <a:xfrm>
            <a:off x="525780" y="1440180"/>
            <a:ext cx="7306056" cy="4657344"/>
          </a:xfrm>
          <a:prstGeom prst="roundRect">
            <a:avLst>
              <a:gd name="adj" fmla="val 1178"/>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6" name="Image 0" descr="/home/user/vikasgroup_visual_analytics_fullstack_beta/deploy/deck/shots/workstation-graph.png">    </p:cNvPr>
          <p:cNvPicPr>
            <a:picLocks noChangeAspect="1"/>
          </p:cNvPicPr>
          <p:nvPr/>
        </p:nvPicPr>
        <p:blipFill>
          <a:blip r:embed="rId1"/>
          <a:stretch>
            <a:fillRect/>
          </a:stretch>
        </p:blipFill>
        <p:spPr>
          <a:xfrm>
            <a:off x="566928" y="1481328"/>
            <a:ext cx="7223760" cy="4575048"/>
          </a:xfrm>
          <a:prstGeom prst="rect">
            <a:avLst/>
          </a:prstGeom>
        </p:spPr>
      </p:pic>
      <p:sp>
        <p:nvSpPr>
          <p:cNvPr id="7" name="Text 4"/>
          <p:cNvSpPr/>
          <p:nvPr/>
        </p:nvSpPr>
        <p:spPr>
          <a:xfrm>
            <a:off x="8092440" y="1572768"/>
            <a:ext cx="3520440" cy="283464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350" dirty="0">
                <a:solidFill>
                  <a:srgbClr val="5C6E88"/>
                </a:solidFill>
                <a:latin typeface="Calibri" pitchFamily="34" charset="0"/>
                <a:ea typeface="Calibri" pitchFamily="34" charset="-122"/>
                <a:cs typeface="Calibri" pitchFamily="34" charset="-120"/>
              </a:rPr>
              <a:t>Each place somebody should be is marked and named.</a:t>
            </a:r>
            <a:endParaRPr lang="en-US" sz="1350" dirty="0"/>
          </a:p>
          <a:p>
            <a:pPr marL="342900" indent="-342900">
              <a:lnSpc>
                <a:spcPts val="1900"/>
              </a:lnSpc>
              <a:spcAft>
                <a:spcPts val="900"/>
              </a:spcAft>
              <a:buSzPct val="100000"/>
              <a:buChar char="•"/>
            </a:pPr>
            <a:r>
              <a:rPr lang="en-US" sz="1350" dirty="0">
                <a:solidFill>
                  <a:srgbClr val="5C6E88"/>
                </a:solidFill>
                <a:latin typeface="Calibri" pitchFamily="34" charset="0"/>
                <a:ea typeface="Calibri" pitchFamily="34" charset="-122"/>
                <a:cs typeface="Calibri" pitchFamily="34" charset="-120"/>
              </a:rPr>
              <a:t>It alerts by name once nobody has been there for longer than the allowance.</a:t>
            </a:r>
            <a:endParaRPr lang="en-US" sz="1350" dirty="0"/>
          </a:p>
          <a:p>
            <a:pPr marL="342900" indent="-342900">
              <a:lnSpc>
                <a:spcPts val="1900"/>
              </a:lnSpc>
              <a:spcAft>
                <a:spcPts val="900"/>
              </a:spcAft>
              <a:buSzPct val="100000"/>
              <a:buChar char="•"/>
            </a:pPr>
            <a:r>
              <a:rPr lang="en-US" sz="1350" dirty="0">
                <a:solidFill>
                  <a:srgbClr val="5C6E88"/>
                </a:solidFill>
                <a:latin typeface="Calibri" pitchFamily="34" charset="0"/>
                <a:ea typeface="Calibri" pitchFamily="34" charset="-122"/>
                <a:cs typeface="Calibri" pitchFamily="34" charset="-120"/>
              </a:rPr>
              <a:t>The page graphs the recent record: manned, idle, and not watched — three different things.</a:t>
            </a:r>
            <a:endParaRPr lang="en-US" sz="1350" dirty="0"/>
          </a:p>
          <a:p>
            <a:pPr marL="342900" indent="-342900">
              <a:lnSpc>
                <a:spcPts val="1900"/>
              </a:lnSpc>
              <a:spcAft>
                <a:spcPts val="900"/>
              </a:spcAft>
              <a:buSzPct val="100000"/>
              <a:buChar char="•"/>
            </a:pPr>
            <a:r>
              <a:rPr lang="en-US" sz="1350" dirty="0">
                <a:solidFill>
                  <a:srgbClr val="5C6E88"/>
                </a:solidFill>
                <a:latin typeface="Calibri" pitchFamily="34" charset="0"/>
                <a:ea typeface="Calibri" pitchFamily="34" charset="-122"/>
                <a:cs typeface="Calibri" pitchFamily="34" charset="-120"/>
              </a:rPr>
              <a:t>Time nobody could watch is drawn as a hole, never counted as either.</a:t>
            </a:r>
            <a:endParaRPr lang="en-US" sz="1350" dirty="0"/>
          </a:p>
        </p:txBody>
      </p:sp>
      <p:sp>
        <p:nvSpPr>
          <p:cNvPr id="8" name="Text 5"/>
          <p:cNvSpPr/>
          <p:nvPr/>
        </p:nvSpPr>
        <p:spPr>
          <a:xfrm>
            <a:off x="8092440" y="4617720"/>
            <a:ext cx="3520440" cy="1371600"/>
          </a:xfrm>
          <a:prstGeom prst="rect">
            <a:avLst/>
          </a:prstGeom>
          <a:noFill/>
          <a:ln/>
        </p:spPr>
        <p:txBody>
          <a:bodyPr wrap="square" lIns="0" tIns="0" rIns="0" bIns="0" rtlCol="0" anchor="t"/>
          <a:lstStyle/>
          <a:p>
            <a:pPr algn="l" indent="0" marL="0">
              <a:lnSpc>
                <a:spcPts val="1700"/>
              </a:lnSpc>
              <a:buNone/>
            </a:pPr>
            <a:r>
              <a:rPr lang="en-US" sz="1200" dirty="0">
                <a:solidFill>
                  <a:srgbClr val="5C6E88"/>
                </a:solidFill>
                <a:latin typeface="Calibri" pitchFamily="34" charset="0"/>
                <a:ea typeface="Calibri" pitchFamily="34" charset="-122"/>
                <a:cs typeface="Calibri" pitchFamily="34" charset="-120"/>
              </a:rPr>
              <a:t>The real alert time is the allowance plus four seconds — the pause that stops a seated person who holds still from being reported absent. It is stated on the page rather than hidden.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146304" cy="146304"/>
          </a:xfrm>
          <a:prstGeom prst="ellipse">
            <a:avLst/>
          </a:prstGeom>
          <a:solidFill>
            <a:srgbClr val="F2A413"/>
          </a:solidFill>
          <a:ln w="12700">
            <a:solidFill>
              <a:srgbClr val="F2A413"/>
            </a:solidFill>
            <a:prstDash val="solid"/>
          </a:ln>
        </p:spPr>
      </p:sp>
      <p:sp>
        <p:nvSpPr>
          <p:cNvPr id="3" name="Text 1"/>
          <p:cNvSpPr/>
          <p:nvPr/>
        </p:nvSpPr>
        <p:spPr>
          <a:xfrm>
            <a:off x="822960" y="457200"/>
            <a:ext cx="5943600" cy="219456"/>
          </a:xfrm>
          <a:prstGeom prst="rect">
            <a:avLst/>
          </a:prstGeom>
          <a:noFill/>
          <a:ln/>
        </p:spPr>
        <p:txBody>
          <a:bodyPr wrap="square" lIns="0" tIns="0" rIns="0" bIns="0" rtlCol="0" anchor="ctr"/>
          <a:lstStyle/>
          <a:p>
            <a:pPr indent="0" marL="0">
              <a:buNone/>
            </a:pPr>
            <a:r>
              <a:rPr lang="en-US" sz="1100" b="1" spc="160" kern="0" dirty="0">
                <a:solidFill>
                  <a:srgbClr val="F2A413"/>
                </a:solidFill>
                <a:latin typeface="Calibri" pitchFamily="34" charset="0"/>
                <a:ea typeface="Calibri" pitchFamily="34" charset="-122"/>
                <a:cs typeface="Calibri" pitchFamily="34" charset="-120"/>
              </a:rPr>
              <a:t>NEW</a:t>
            </a:r>
            <a:endParaRPr lang="en-US" sz="1100" dirty="0"/>
          </a:p>
        </p:txBody>
      </p:sp>
      <p:sp>
        <p:nvSpPr>
          <p:cNvPr id="4" name="Text 2"/>
          <p:cNvSpPr/>
          <p:nvPr/>
        </p:nvSpPr>
        <p:spPr>
          <a:xfrm>
            <a:off x="566928" y="658368"/>
            <a:ext cx="10607040" cy="822960"/>
          </a:xfrm>
          <a:prstGeom prst="rect">
            <a:avLst/>
          </a:prstGeom>
          <a:noFill/>
          <a:ln/>
        </p:spPr>
        <p:txBody>
          <a:bodyPr wrap="square" lIns="0" tIns="0" rIns="0" bIns="0" rtlCol="0" anchor="ctr"/>
          <a:lstStyle/>
          <a:p>
            <a:pPr indent="0" marL="0">
              <a:buNone/>
            </a:pPr>
            <a:r>
              <a:rPr lang="en-US" sz="3400" b="1" dirty="0">
                <a:solidFill>
                  <a:srgbClr val="14243D"/>
                </a:solidFill>
                <a:latin typeface="Cambria" pitchFamily="34" charset="0"/>
                <a:ea typeface="Cambria" pitchFamily="34" charset="-122"/>
                <a:cs typeface="Cambria" pitchFamily="34" charset="-120"/>
              </a:rPr>
              <a:t>The clock the footage carries</a:t>
            </a:r>
            <a:endParaRPr lang="en-US" sz="3400" dirty="0"/>
          </a:p>
        </p:txBody>
      </p:sp>
      <p:sp>
        <p:nvSpPr>
          <p:cNvPr id="5" name="Text 3"/>
          <p:cNvSpPr/>
          <p:nvPr/>
        </p:nvSpPr>
        <p:spPr>
          <a:xfrm>
            <a:off x="566928" y="1536192"/>
            <a:ext cx="5760720" cy="1005840"/>
          </a:xfrm>
          <a:prstGeom prst="rect">
            <a:avLst/>
          </a:prstGeom>
          <a:noFill/>
          <a:ln/>
        </p:spPr>
        <p:txBody>
          <a:bodyPr wrap="square" lIns="0" tIns="0" rIns="0" bIns="0" rtlCol="0" anchor="t"/>
          <a:lstStyle/>
          <a:p>
            <a:pPr algn="l" indent="0" marL="0">
              <a:lnSpc>
                <a:spcPts val="2100"/>
              </a:lnSpc>
              <a:buNone/>
            </a:pPr>
            <a:r>
              <a:rPr lang="en-US" sz="1400" dirty="0">
                <a:solidFill>
                  <a:srgbClr val="14243D"/>
                </a:solidFill>
                <a:latin typeface="Calibri" pitchFamily="34" charset="0"/>
                <a:ea typeface="Calibri" pitchFamily="34" charset="-122"/>
                <a:cs typeface="Calibri" pitchFamily="34" charset="-120"/>
              </a:rPr>
              <a:t>CCTV burns its own clock into the picture. When a recording is reviewed days later, that clock — not the moment of review — is what the event should carry.</a:t>
            </a:r>
            <a:endParaRPr lang="en-US" sz="1400" dirty="0"/>
          </a:p>
        </p:txBody>
      </p:sp>
      <p:sp>
        <p:nvSpPr>
          <p:cNvPr id="6" name="Text 4"/>
          <p:cNvSpPr/>
          <p:nvPr/>
        </p:nvSpPr>
        <p:spPr>
          <a:xfrm>
            <a:off x="566928" y="2743200"/>
            <a:ext cx="5760720" cy="274320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350" dirty="0">
                <a:solidFill>
                  <a:srgbClr val="5C6E88"/>
                </a:solidFill>
                <a:latin typeface="Calibri" pitchFamily="34" charset="0"/>
                <a:ea typeface="Calibri" pitchFamily="34" charset="-122"/>
                <a:cs typeface="Calibri" pitchFamily="34" charset="-120"/>
              </a:rPr>
              <a:t>The burned-in timestamp is read from the picture and validated before it is believed.</a:t>
            </a:r>
            <a:endParaRPr lang="en-US" sz="1350" dirty="0"/>
          </a:p>
          <a:p>
            <a:pPr marL="342900" indent="-342900">
              <a:lnSpc>
                <a:spcPts val="1900"/>
              </a:lnSpc>
              <a:spcAft>
                <a:spcPts val="900"/>
              </a:spcAft>
              <a:buSzPct val="100000"/>
              <a:buChar char="•"/>
            </a:pPr>
            <a:r>
              <a:rPr lang="en-US" sz="1350" dirty="0">
                <a:solidFill>
                  <a:srgbClr val="5C6E88"/>
                </a:solidFill>
                <a:latin typeface="Calibri" pitchFamily="34" charset="0"/>
                <a:ea typeface="Calibri" pitchFamily="34" charset="-122"/>
                <a:cs typeface="Calibri" pitchFamily="34" charset="-120"/>
              </a:rPr>
              <a:t>A clock that jumps backwards is treated as misread; one unreadable frame decides nothing.</a:t>
            </a:r>
            <a:endParaRPr lang="en-US" sz="1350" dirty="0"/>
          </a:p>
          <a:p>
            <a:pPr marL="342900" indent="-342900">
              <a:lnSpc>
                <a:spcPts val="1900"/>
              </a:lnSpc>
              <a:spcAft>
                <a:spcPts val="900"/>
              </a:spcAft>
              <a:buSzPct val="100000"/>
              <a:buChar char="•"/>
            </a:pPr>
            <a:r>
              <a:rPr lang="en-US" sz="1350" dirty="0">
                <a:solidFill>
                  <a:srgbClr val="5C6E88"/>
                </a:solidFill>
                <a:latin typeface="Calibri" pitchFamily="34" charset="0"/>
                <a:ea typeface="Calibri" pitchFamily="34" charset="-122"/>
                <a:cs typeface="Calibri" pitchFamily="34" charset="-120"/>
              </a:rPr>
              <a:t>Reading is sampled and extrapolated through the video's own position, so it costs almost nothing.</a:t>
            </a:r>
            <a:endParaRPr lang="en-US" sz="1350" dirty="0"/>
          </a:p>
          <a:p>
            <a:pPr marL="342900" indent="-342900">
              <a:lnSpc>
                <a:spcPts val="1900"/>
              </a:lnSpc>
              <a:spcAft>
                <a:spcPts val="900"/>
              </a:spcAft>
              <a:buSzPct val="100000"/>
              <a:buChar char="•"/>
            </a:pPr>
            <a:r>
              <a:rPr lang="en-US" sz="1350" dirty="0">
                <a:solidFill>
                  <a:srgbClr val="5C6E88"/>
                </a:solidFill>
                <a:latin typeface="Calibri" pitchFamily="34" charset="0"/>
                <a:ea typeface="Calibri" pitchFamily="34" charset="-122"/>
                <a:cs typeface="Calibri" pitchFamily="34" charset="-120"/>
              </a:rPr>
              <a:t>No readable clock anywhere? The system clock stamps the event — and the record says so.</a:t>
            </a:r>
            <a:endParaRPr lang="en-US" sz="1350" dirty="0"/>
          </a:p>
        </p:txBody>
      </p:sp>
      <p:sp>
        <p:nvSpPr>
          <p:cNvPr id="7" name="Shape 5"/>
          <p:cNvSpPr/>
          <p:nvPr/>
        </p:nvSpPr>
        <p:spPr>
          <a:xfrm>
            <a:off x="7182612" y="1403604"/>
            <a:ext cx="3922776" cy="4742447"/>
          </a:xfrm>
          <a:prstGeom prst="roundRect">
            <a:avLst>
              <a:gd name="adj" fmla="val 1399"/>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8" name="Image 0" descr="/home/user/vikasgroup_visual_analytics_fullstack_beta/deploy/deck/shots/event-detail-trim.png">    </p:cNvPr>
          <p:cNvPicPr>
            <a:picLocks noChangeAspect="1"/>
          </p:cNvPicPr>
          <p:nvPr/>
        </p:nvPicPr>
        <p:blipFill>
          <a:blip r:embed="rId1"/>
          <a:stretch>
            <a:fillRect/>
          </a:stretch>
        </p:blipFill>
        <p:spPr>
          <a:xfrm>
            <a:off x="7223760" y="1444752"/>
            <a:ext cx="3840480" cy="4660151"/>
          </a:xfrm>
          <a:prstGeom prst="rect">
            <a:avLst/>
          </a:prstGeom>
        </p:spPr>
      </p:pic>
      <p:sp>
        <p:nvSpPr>
          <p:cNvPr id="9" name="Text 6"/>
          <p:cNvSpPr/>
          <p:nvPr/>
        </p:nvSpPr>
        <p:spPr>
          <a:xfrm>
            <a:off x="7223760" y="6223775"/>
            <a:ext cx="3840480" cy="292608"/>
          </a:xfrm>
          <a:prstGeom prst="rect">
            <a:avLst/>
          </a:prstGeom>
          <a:noFill/>
          <a:ln/>
        </p:spPr>
        <p:txBody>
          <a:bodyPr wrap="square" lIns="0" tIns="0" rIns="0" bIns="0" rtlCol="0" anchor="ctr"/>
          <a:lstStyle/>
          <a:p>
            <a:pPr algn="l" indent="0" marL="0">
              <a:buNone/>
            </a:pPr>
            <a:r>
              <a:rPr lang="en-US" sz="1050" i="1" dirty="0">
                <a:solidFill>
                  <a:srgbClr val="5C6E88"/>
                </a:solidFill>
                <a:latin typeface="Calibri" pitchFamily="34" charset="0"/>
                <a:ea typeface="Calibri" pitchFamily="34" charset="-122"/>
                <a:cs typeface="Calibri" pitchFamily="34" charset="-120"/>
              </a:rPr>
              <a:t>Filed under the recording's own clock.</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66928" y="475488"/>
            <a:ext cx="146304" cy="146304"/>
          </a:xfrm>
          <a:prstGeom prst="ellipse">
            <a:avLst/>
          </a:prstGeom>
          <a:solidFill>
            <a:srgbClr val="F2A413"/>
          </a:solidFill>
          <a:ln w="12700">
            <a:solidFill>
              <a:srgbClr val="F2A413"/>
            </a:solidFill>
            <a:prstDash val="solid"/>
          </a:ln>
        </p:spPr>
      </p:sp>
      <p:sp>
        <p:nvSpPr>
          <p:cNvPr id="3" name="Text 1"/>
          <p:cNvSpPr/>
          <p:nvPr/>
        </p:nvSpPr>
        <p:spPr>
          <a:xfrm>
            <a:off x="822960" y="457200"/>
            <a:ext cx="5943600" cy="219456"/>
          </a:xfrm>
          <a:prstGeom prst="rect">
            <a:avLst/>
          </a:prstGeom>
          <a:noFill/>
          <a:ln/>
        </p:spPr>
        <p:txBody>
          <a:bodyPr wrap="square" lIns="0" tIns="0" rIns="0" bIns="0" rtlCol="0" anchor="ctr"/>
          <a:lstStyle/>
          <a:p>
            <a:pPr indent="0" marL="0">
              <a:buNone/>
            </a:pPr>
            <a:r>
              <a:rPr lang="en-US" sz="1100" b="1" spc="160" kern="0" dirty="0">
                <a:solidFill>
                  <a:srgbClr val="F2A413"/>
                </a:solidFill>
                <a:latin typeface="Calibri" pitchFamily="34" charset="0"/>
                <a:ea typeface="Calibri" pitchFamily="34" charset="-122"/>
                <a:cs typeface="Calibri" pitchFamily="34" charset="-120"/>
              </a:rPr>
              <a:t>NEW</a:t>
            </a:r>
            <a:endParaRPr lang="en-US" sz="1100" dirty="0"/>
          </a:p>
        </p:txBody>
      </p:sp>
      <p:sp>
        <p:nvSpPr>
          <p:cNvPr id="4" name="Text 2"/>
          <p:cNvSpPr/>
          <p:nvPr/>
        </p:nvSpPr>
        <p:spPr>
          <a:xfrm>
            <a:off x="566928" y="658368"/>
            <a:ext cx="10607040" cy="822960"/>
          </a:xfrm>
          <a:prstGeom prst="rect">
            <a:avLst/>
          </a:prstGeom>
          <a:noFill/>
          <a:ln/>
        </p:spPr>
        <p:txBody>
          <a:bodyPr wrap="square" lIns="0" tIns="0" rIns="0" bIns="0" rtlCol="0" anchor="ctr"/>
          <a:lstStyle/>
          <a:p>
            <a:pPr indent="0" marL="0">
              <a:buNone/>
            </a:pPr>
            <a:r>
              <a:rPr lang="en-US" sz="3400" b="1" dirty="0">
                <a:solidFill>
                  <a:srgbClr val="14243D"/>
                </a:solidFill>
                <a:latin typeface="Cambria" pitchFamily="34" charset="0"/>
                <a:ea typeface="Cambria" pitchFamily="34" charset="-122"/>
                <a:cs typeface="Cambria" pitchFamily="34" charset="-120"/>
              </a:rPr>
              <a:t>When a camera has no clock</a:t>
            </a:r>
            <a:endParaRPr lang="en-US" sz="3400" dirty="0"/>
          </a:p>
        </p:txBody>
      </p:sp>
      <p:sp>
        <p:nvSpPr>
          <p:cNvPr id="5" name="Shape 3"/>
          <p:cNvSpPr/>
          <p:nvPr/>
        </p:nvSpPr>
        <p:spPr>
          <a:xfrm>
            <a:off x="525780" y="1440180"/>
            <a:ext cx="4197096" cy="4447744"/>
          </a:xfrm>
          <a:prstGeom prst="roundRect">
            <a:avLst>
              <a:gd name="adj" fmla="val 1307"/>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6" name="Image 0" descr="/home/user/vikasgroup_visual_analytics_fullstack_beta/deploy/deck/shots/clock-warning-trim.png">    </p:cNvPr>
          <p:cNvPicPr>
            <a:picLocks noChangeAspect="1"/>
          </p:cNvPicPr>
          <p:nvPr/>
        </p:nvPicPr>
        <p:blipFill>
          <a:blip r:embed="rId1"/>
          <a:stretch>
            <a:fillRect/>
          </a:stretch>
        </p:blipFill>
        <p:spPr>
          <a:xfrm>
            <a:off x="566928" y="1481328"/>
            <a:ext cx="4114800" cy="4365448"/>
          </a:xfrm>
          <a:prstGeom prst="rect">
            <a:avLst/>
          </a:prstGeom>
        </p:spPr>
      </p:pic>
      <p:sp>
        <p:nvSpPr>
          <p:cNvPr id="7" name="Text 4"/>
          <p:cNvSpPr/>
          <p:nvPr/>
        </p:nvSpPr>
        <p:spPr>
          <a:xfrm>
            <a:off x="566928" y="5965648"/>
            <a:ext cx="4114800" cy="292608"/>
          </a:xfrm>
          <a:prstGeom prst="rect">
            <a:avLst/>
          </a:prstGeom>
          <a:noFill/>
          <a:ln/>
        </p:spPr>
        <p:txBody>
          <a:bodyPr wrap="square" lIns="0" tIns="0" rIns="0" bIns="0" rtlCol="0" anchor="ctr"/>
          <a:lstStyle/>
          <a:p>
            <a:pPr algn="l" indent="0" marL="0">
              <a:buNone/>
            </a:pPr>
            <a:r>
              <a:rPr lang="en-US" sz="1050" i="1" dirty="0">
                <a:solidFill>
                  <a:srgbClr val="5C6E88"/>
                </a:solidFill>
                <a:latin typeface="Calibri" pitchFamily="34" charset="0"/>
                <a:ea typeface="Calibri" pitchFamily="34" charset="-122"/>
                <a:cs typeface="Calibri" pitchFamily="34" charset="-120"/>
              </a:rPr>
              <a:t>The camera says so on the page it is watched from.</a:t>
            </a:r>
            <a:endParaRPr lang="en-US" sz="1050" dirty="0"/>
          </a:p>
        </p:txBody>
      </p:sp>
      <p:sp>
        <p:nvSpPr>
          <p:cNvPr id="8" name="Text 5"/>
          <p:cNvSpPr/>
          <p:nvPr/>
        </p:nvSpPr>
        <p:spPr>
          <a:xfrm>
            <a:off x="5074920" y="1536192"/>
            <a:ext cx="6537960" cy="1280160"/>
          </a:xfrm>
          <a:prstGeom prst="rect">
            <a:avLst/>
          </a:prstGeom>
          <a:noFill/>
          <a:ln/>
        </p:spPr>
        <p:txBody>
          <a:bodyPr wrap="square" lIns="0" tIns="0" rIns="0" bIns="0" rtlCol="0" anchor="t"/>
          <a:lstStyle/>
          <a:p>
            <a:pPr algn="l" indent="0" marL="0">
              <a:lnSpc>
                <a:spcPts val="2000"/>
              </a:lnSpc>
              <a:buNone/>
            </a:pPr>
            <a:r>
              <a:rPr lang="en-US" sz="1350" dirty="0">
                <a:solidFill>
                  <a:srgbClr val="14243D"/>
                </a:solidFill>
                <a:latin typeface="Calibri" pitchFamily="34" charset="0"/>
                <a:ea typeface="Calibri" pitchFamily="34" charset="-122"/>
                <a:cs typeface="Calibri" pitchFamily="34" charset="-120"/>
              </a:rPr>
              <a:t>Not every camera offers a clock, and a system that quietly falls back is a system nobody can reconcile with an ERP later. So the camera's clock has a state of its own, separate from the timestamp that ends up on the event.</a:t>
            </a:r>
            <a:endParaRPr lang="en-US" sz="1350" dirty="0"/>
          </a:p>
        </p:txBody>
      </p:sp>
      <p:sp>
        <p:nvSpPr>
          <p:cNvPr id="9" name="Shape 6"/>
          <p:cNvSpPr/>
          <p:nvPr/>
        </p:nvSpPr>
        <p:spPr>
          <a:xfrm>
            <a:off x="5074920" y="2971800"/>
            <a:ext cx="1481328" cy="457200"/>
          </a:xfrm>
          <a:prstGeom prst="roundRect">
            <a:avLst>
              <a:gd name="adj" fmla="val 20000"/>
            </a:avLst>
          </a:prstGeom>
          <a:solidFill>
            <a:srgbClr val="FFFFFF"/>
          </a:solidFill>
          <a:ln w="12700">
            <a:solidFill>
              <a:srgbClr val="2E7D5B"/>
            </a:solidFill>
            <a:prstDash val="solid"/>
          </a:ln>
        </p:spPr>
      </p:sp>
      <p:sp>
        <p:nvSpPr>
          <p:cNvPr id="10" name="Text 7"/>
          <p:cNvSpPr/>
          <p:nvPr/>
        </p:nvSpPr>
        <p:spPr>
          <a:xfrm>
            <a:off x="5074920" y="2971800"/>
            <a:ext cx="1481328" cy="457200"/>
          </a:xfrm>
          <a:prstGeom prst="rect">
            <a:avLst/>
          </a:prstGeom>
          <a:noFill/>
          <a:ln/>
        </p:spPr>
        <p:txBody>
          <a:bodyPr wrap="square" lIns="0" tIns="0" rIns="0" bIns="0" rtlCol="0" anchor="ctr"/>
          <a:lstStyle/>
          <a:p>
            <a:pPr algn="ctr" indent="0" marL="0">
              <a:buNone/>
            </a:pPr>
            <a:r>
              <a:rPr lang="en-US" sz="1250" b="1" dirty="0">
                <a:solidFill>
                  <a:srgbClr val="2E7D5B"/>
                </a:solidFill>
                <a:latin typeface="Calibri" pitchFamily="34" charset="0"/>
                <a:ea typeface="Calibri" pitchFamily="34" charset="-122"/>
                <a:cs typeface="Calibri" pitchFamily="34" charset="-120"/>
              </a:rPr>
              <a:t>Valid</a:t>
            </a:r>
            <a:endParaRPr lang="en-US" sz="1250" dirty="0"/>
          </a:p>
        </p:txBody>
      </p:sp>
      <p:sp>
        <p:nvSpPr>
          <p:cNvPr id="11" name="Text 8"/>
          <p:cNvSpPr/>
          <p:nvPr/>
        </p:nvSpPr>
        <p:spPr>
          <a:xfrm>
            <a:off x="6720840" y="2971800"/>
            <a:ext cx="4892040" cy="457200"/>
          </a:xfrm>
          <a:prstGeom prst="rect">
            <a:avLst/>
          </a:prstGeom>
          <a:noFill/>
          <a:ln/>
        </p:spPr>
        <p:txBody>
          <a:bodyPr wrap="square" lIns="0" tIns="0" rIns="0" bIns="0" rtlCol="0" anchor="ctr"/>
          <a:lstStyle/>
          <a:p>
            <a:pPr indent="0" marL="0">
              <a:buNone/>
            </a:pPr>
            <a:r>
              <a:rPr lang="en-US" sz="1250" dirty="0">
                <a:solidFill>
                  <a:srgbClr val="5C6E88"/>
                </a:solidFill>
                <a:latin typeface="Calibri" pitchFamily="34" charset="0"/>
                <a:ea typeface="Calibri" pitchFamily="34" charset="-122"/>
                <a:cs typeface="Calibri" pitchFamily="34" charset="-120"/>
              </a:rPr>
              <a:t>A timestamp is being read and agrees with itself.</a:t>
            </a:r>
            <a:endParaRPr lang="en-US" sz="1250" dirty="0"/>
          </a:p>
        </p:txBody>
      </p:sp>
      <p:sp>
        <p:nvSpPr>
          <p:cNvPr id="12" name="Shape 9"/>
          <p:cNvSpPr/>
          <p:nvPr/>
        </p:nvSpPr>
        <p:spPr>
          <a:xfrm>
            <a:off x="5074920" y="3630168"/>
            <a:ext cx="1481328" cy="457200"/>
          </a:xfrm>
          <a:prstGeom prst="roundRect">
            <a:avLst>
              <a:gd name="adj" fmla="val 20000"/>
            </a:avLst>
          </a:prstGeom>
          <a:solidFill>
            <a:srgbClr val="FFFFFF"/>
          </a:solidFill>
          <a:ln w="12700">
            <a:solidFill>
              <a:srgbClr val="5C6E88"/>
            </a:solidFill>
            <a:prstDash val="solid"/>
          </a:ln>
        </p:spPr>
      </p:sp>
      <p:sp>
        <p:nvSpPr>
          <p:cNvPr id="13" name="Text 10"/>
          <p:cNvSpPr/>
          <p:nvPr/>
        </p:nvSpPr>
        <p:spPr>
          <a:xfrm>
            <a:off x="5074920" y="3630168"/>
            <a:ext cx="1481328" cy="457200"/>
          </a:xfrm>
          <a:prstGeom prst="rect">
            <a:avLst/>
          </a:prstGeom>
          <a:noFill/>
          <a:ln/>
        </p:spPr>
        <p:txBody>
          <a:bodyPr wrap="square" lIns="0" tIns="0" rIns="0" bIns="0" rtlCol="0" anchor="ctr"/>
          <a:lstStyle/>
          <a:p>
            <a:pPr algn="ctr" indent="0" marL="0">
              <a:buNone/>
            </a:pPr>
            <a:r>
              <a:rPr lang="en-US" sz="1250" b="1" dirty="0">
                <a:solidFill>
                  <a:srgbClr val="5C6E88"/>
                </a:solidFill>
                <a:latin typeface="Calibri" pitchFamily="34" charset="0"/>
                <a:ea typeface="Calibri" pitchFamily="34" charset="-122"/>
                <a:cs typeface="Calibri" pitchFamily="34" charset="-120"/>
              </a:rPr>
              <a:t>Checking</a:t>
            </a:r>
            <a:endParaRPr lang="en-US" sz="1250" dirty="0"/>
          </a:p>
        </p:txBody>
      </p:sp>
      <p:sp>
        <p:nvSpPr>
          <p:cNvPr id="14" name="Text 11"/>
          <p:cNvSpPr/>
          <p:nvPr/>
        </p:nvSpPr>
        <p:spPr>
          <a:xfrm>
            <a:off x="6720840" y="3630168"/>
            <a:ext cx="4892040" cy="457200"/>
          </a:xfrm>
          <a:prstGeom prst="rect">
            <a:avLst/>
          </a:prstGeom>
          <a:noFill/>
          <a:ln/>
        </p:spPr>
        <p:txBody>
          <a:bodyPr wrap="square" lIns="0" tIns="0" rIns="0" bIns="0" rtlCol="0" anchor="ctr"/>
          <a:lstStyle/>
          <a:p>
            <a:pPr indent="0" marL="0">
              <a:buNone/>
            </a:pPr>
            <a:r>
              <a:rPr lang="en-US" sz="1250" dirty="0">
                <a:solidFill>
                  <a:srgbClr val="5C6E88"/>
                </a:solidFill>
                <a:latin typeface="Calibri" pitchFamily="34" charset="0"/>
                <a:ea typeface="Calibri" pitchFamily="34" charset="-122"/>
                <a:cs typeface="Calibri" pitchFamily="34" charset="-120"/>
              </a:rPr>
              <a:t>Still looking — the verdict is not in yet.</a:t>
            </a:r>
            <a:endParaRPr lang="en-US" sz="1250" dirty="0"/>
          </a:p>
        </p:txBody>
      </p:sp>
      <p:sp>
        <p:nvSpPr>
          <p:cNvPr id="15" name="Shape 12"/>
          <p:cNvSpPr/>
          <p:nvPr/>
        </p:nvSpPr>
        <p:spPr>
          <a:xfrm>
            <a:off x="5074920" y="4288536"/>
            <a:ext cx="1481328" cy="457200"/>
          </a:xfrm>
          <a:prstGeom prst="roundRect">
            <a:avLst>
              <a:gd name="adj" fmla="val 20000"/>
            </a:avLst>
          </a:prstGeom>
          <a:solidFill>
            <a:srgbClr val="FFFFFF"/>
          </a:solidFill>
          <a:ln w="12700">
            <a:solidFill>
              <a:srgbClr val="F2A413"/>
            </a:solidFill>
            <a:prstDash val="solid"/>
          </a:ln>
        </p:spPr>
      </p:sp>
      <p:sp>
        <p:nvSpPr>
          <p:cNvPr id="16" name="Text 13"/>
          <p:cNvSpPr/>
          <p:nvPr/>
        </p:nvSpPr>
        <p:spPr>
          <a:xfrm>
            <a:off x="5074920" y="4288536"/>
            <a:ext cx="1481328" cy="457200"/>
          </a:xfrm>
          <a:prstGeom prst="rect">
            <a:avLst/>
          </a:prstGeom>
          <a:noFill/>
          <a:ln/>
        </p:spPr>
        <p:txBody>
          <a:bodyPr wrap="square" lIns="0" tIns="0" rIns="0" bIns="0" rtlCol="0" anchor="ctr"/>
          <a:lstStyle/>
          <a:p>
            <a:pPr algn="ctr" indent="0" marL="0">
              <a:buNone/>
            </a:pPr>
            <a:r>
              <a:rPr lang="en-US" sz="1250" b="1" dirty="0">
                <a:solidFill>
                  <a:srgbClr val="F2A413"/>
                </a:solidFill>
                <a:latin typeface="Calibri" pitchFamily="34" charset="0"/>
                <a:ea typeface="Calibri" pitchFamily="34" charset="-122"/>
                <a:cs typeface="Calibri" pitchFamily="34" charset="-120"/>
              </a:rPr>
              <a:t>Unavailable</a:t>
            </a:r>
            <a:endParaRPr lang="en-US" sz="1250" dirty="0"/>
          </a:p>
        </p:txBody>
      </p:sp>
      <p:sp>
        <p:nvSpPr>
          <p:cNvPr id="17" name="Text 14"/>
          <p:cNvSpPr/>
          <p:nvPr/>
        </p:nvSpPr>
        <p:spPr>
          <a:xfrm>
            <a:off x="6720840" y="4288536"/>
            <a:ext cx="4892040" cy="457200"/>
          </a:xfrm>
          <a:prstGeom prst="rect">
            <a:avLst/>
          </a:prstGeom>
          <a:noFill/>
          <a:ln/>
        </p:spPr>
        <p:txBody>
          <a:bodyPr wrap="square" lIns="0" tIns="0" rIns="0" bIns="0" rtlCol="0" anchor="ctr"/>
          <a:lstStyle/>
          <a:p>
            <a:pPr indent="0" marL="0">
              <a:buNone/>
            </a:pPr>
            <a:r>
              <a:rPr lang="en-US" sz="1250" dirty="0">
                <a:solidFill>
                  <a:srgbClr val="5C6E88"/>
                </a:solidFill>
                <a:latin typeface="Calibri" pitchFamily="34" charset="0"/>
                <a:ea typeface="Calibri" pitchFamily="34" charset="-122"/>
                <a:cs typeface="Calibri" pitchFamily="34" charset="-120"/>
              </a:rPr>
              <a:t>The whole check window passed with nothing found.</a:t>
            </a:r>
            <a:endParaRPr lang="en-US" sz="1250" dirty="0"/>
          </a:p>
        </p:txBody>
      </p:sp>
      <p:sp>
        <p:nvSpPr>
          <p:cNvPr id="18" name="Shape 15"/>
          <p:cNvSpPr/>
          <p:nvPr/>
        </p:nvSpPr>
        <p:spPr>
          <a:xfrm>
            <a:off x="5074920" y="4946904"/>
            <a:ext cx="1481328" cy="457200"/>
          </a:xfrm>
          <a:prstGeom prst="roundRect">
            <a:avLst>
              <a:gd name="adj" fmla="val 20000"/>
            </a:avLst>
          </a:prstGeom>
          <a:solidFill>
            <a:srgbClr val="FFFFFF"/>
          </a:solidFill>
          <a:ln w="12700">
            <a:solidFill>
              <a:srgbClr val="C8433F"/>
            </a:solidFill>
            <a:prstDash val="solid"/>
          </a:ln>
        </p:spPr>
      </p:sp>
      <p:sp>
        <p:nvSpPr>
          <p:cNvPr id="19" name="Text 16"/>
          <p:cNvSpPr/>
          <p:nvPr/>
        </p:nvSpPr>
        <p:spPr>
          <a:xfrm>
            <a:off x="5074920" y="4946904"/>
            <a:ext cx="1481328" cy="457200"/>
          </a:xfrm>
          <a:prstGeom prst="rect">
            <a:avLst/>
          </a:prstGeom>
          <a:noFill/>
          <a:ln/>
        </p:spPr>
        <p:txBody>
          <a:bodyPr wrap="square" lIns="0" tIns="0" rIns="0" bIns="0" rtlCol="0" anchor="ctr"/>
          <a:lstStyle/>
          <a:p>
            <a:pPr algn="ctr" indent="0" marL="0">
              <a:buNone/>
            </a:pPr>
            <a:r>
              <a:rPr lang="en-US" sz="1250" b="1" dirty="0">
                <a:solidFill>
                  <a:srgbClr val="C8433F"/>
                </a:solidFill>
                <a:latin typeface="Calibri" pitchFamily="34" charset="0"/>
                <a:ea typeface="Calibri" pitchFamily="34" charset="-122"/>
                <a:cs typeface="Calibri" pitchFamily="34" charset="-120"/>
              </a:rPr>
              <a:t>Invalid</a:t>
            </a:r>
            <a:endParaRPr lang="en-US" sz="1250" dirty="0"/>
          </a:p>
        </p:txBody>
      </p:sp>
      <p:sp>
        <p:nvSpPr>
          <p:cNvPr id="20" name="Text 17"/>
          <p:cNvSpPr/>
          <p:nvPr/>
        </p:nvSpPr>
        <p:spPr>
          <a:xfrm>
            <a:off x="6720840" y="4946904"/>
            <a:ext cx="4892040" cy="457200"/>
          </a:xfrm>
          <a:prstGeom prst="rect">
            <a:avLst/>
          </a:prstGeom>
          <a:noFill/>
          <a:ln/>
        </p:spPr>
        <p:txBody>
          <a:bodyPr wrap="square" lIns="0" tIns="0" rIns="0" bIns="0" rtlCol="0" anchor="ctr"/>
          <a:lstStyle/>
          <a:p>
            <a:pPr indent="0" marL="0">
              <a:buNone/>
            </a:pPr>
            <a:r>
              <a:rPr lang="en-US" sz="1250" dirty="0">
                <a:solidFill>
                  <a:srgbClr val="5C6E88"/>
                </a:solidFill>
                <a:latin typeface="Calibri" pitchFamily="34" charset="0"/>
                <a:ea typeface="Calibri" pitchFamily="34" charset="-122"/>
                <a:cs typeface="Calibri" pitchFamily="34" charset="-120"/>
              </a:rPr>
              <a:t>The clock jumped backwards and cannot be trusted.</a:t>
            </a:r>
            <a:endParaRPr lang="en-US" sz="1250" dirty="0"/>
          </a:p>
        </p:txBody>
      </p:sp>
      <p:sp>
        <p:nvSpPr>
          <p:cNvPr id="21" name="Text 18"/>
          <p:cNvSpPr/>
          <p:nvPr/>
        </p:nvSpPr>
        <p:spPr>
          <a:xfrm>
            <a:off x="5074920" y="5760720"/>
            <a:ext cx="6537960" cy="640080"/>
          </a:xfrm>
          <a:prstGeom prst="rect">
            <a:avLst/>
          </a:prstGeom>
          <a:noFill/>
          <a:ln/>
        </p:spPr>
        <p:txBody>
          <a:bodyPr wrap="square" lIns="0" tIns="0" rIns="0" bIns="0" rtlCol="0" anchor="t"/>
          <a:lstStyle/>
          <a:p>
            <a:pPr algn="l" indent="0" marL="0">
              <a:lnSpc>
                <a:spcPts val="1800"/>
              </a:lnSpc>
              <a:buNone/>
            </a:pPr>
            <a:r>
              <a:rPr lang="en-US" sz="1250" dirty="0">
                <a:solidFill>
                  <a:srgbClr val="14243D"/>
                </a:solidFill>
                <a:latin typeface="Calibri" pitchFamily="34" charset="0"/>
                <a:ea typeface="Calibri" pitchFamily="34" charset="-122"/>
                <a:cs typeface="Calibri" pitchFamily="34" charset="-120"/>
              </a:rPr>
              <a:t>One warning per camera, not one per frame — and it resolves itself the moment a clock appears. Watching and detection never pause for any of 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146304" cy="146304"/>
          </a:xfrm>
          <a:prstGeom prst="ellipse">
            <a:avLst/>
          </a:prstGeom>
          <a:solidFill>
            <a:srgbClr val="F2A413"/>
          </a:solidFill>
          <a:ln w="12700">
            <a:solidFill>
              <a:srgbClr val="F2A413"/>
            </a:solidFill>
            <a:prstDash val="solid"/>
          </a:ln>
        </p:spPr>
      </p:sp>
      <p:sp>
        <p:nvSpPr>
          <p:cNvPr id="3" name="Text 1"/>
          <p:cNvSpPr/>
          <p:nvPr/>
        </p:nvSpPr>
        <p:spPr>
          <a:xfrm>
            <a:off x="822960" y="457200"/>
            <a:ext cx="5943600" cy="219456"/>
          </a:xfrm>
          <a:prstGeom prst="rect">
            <a:avLst/>
          </a:prstGeom>
          <a:noFill/>
          <a:ln/>
        </p:spPr>
        <p:txBody>
          <a:bodyPr wrap="square" lIns="0" tIns="0" rIns="0" bIns="0" rtlCol="0" anchor="ctr"/>
          <a:lstStyle/>
          <a:p>
            <a:pPr indent="0" marL="0">
              <a:buNone/>
            </a:pPr>
            <a:r>
              <a:rPr lang="en-US" sz="1100" b="1" spc="160" kern="0" dirty="0">
                <a:solidFill>
                  <a:srgbClr val="F2A413"/>
                </a:solidFill>
                <a:latin typeface="Calibri" pitchFamily="34" charset="0"/>
                <a:ea typeface="Calibri" pitchFamily="34" charset="-122"/>
                <a:cs typeface="Calibri" pitchFamily="34" charset="-120"/>
              </a:rPr>
              <a:t>CAPABILITY</a:t>
            </a:r>
            <a:endParaRPr lang="en-US" sz="1100" dirty="0"/>
          </a:p>
        </p:txBody>
      </p:sp>
      <p:sp>
        <p:nvSpPr>
          <p:cNvPr id="4" name="Text 2"/>
          <p:cNvSpPr/>
          <p:nvPr/>
        </p:nvSpPr>
        <p:spPr>
          <a:xfrm>
            <a:off x="566928" y="658368"/>
            <a:ext cx="10607040" cy="822960"/>
          </a:xfrm>
          <a:prstGeom prst="rect">
            <a:avLst/>
          </a:prstGeom>
          <a:noFill/>
          <a:ln/>
        </p:spPr>
        <p:txBody>
          <a:bodyPr wrap="square" lIns="0" tIns="0" rIns="0" bIns="0" rtlCol="0" anchor="ctr"/>
          <a:lstStyle/>
          <a:p>
            <a:pPr indent="0" marL="0">
              <a:buNone/>
            </a:pPr>
            <a:r>
              <a:rPr lang="en-US" sz="3400" b="1" dirty="0">
                <a:solidFill>
                  <a:srgbClr val="14243D"/>
                </a:solidFill>
                <a:latin typeface="Cambria" pitchFamily="34" charset="0"/>
                <a:ea typeface="Cambria" pitchFamily="34" charset="-122"/>
                <a:cs typeface="Cambria" pitchFamily="34" charset="-120"/>
              </a:rPr>
              <a:t>Every alert names its camera</a:t>
            </a:r>
            <a:endParaRPr lang="en-US" sz="3400" dirty="0"/>
          </a:p>
        </p:txBody>
      </p:sp>
      <p:sp>
        <p:nvSpPr>
          <p:cNvPr id="5" name="Shape 3"/>
          <p:cNvSpPr/>
          <p:nvPr/>
        </p:nvSpPr>
        <p:spPr>
          <a:xfrm>
            <a:off x="525780" y="1440180"/>
            <a:ext cx="5385816" cy="3441192"/>
          </a:xfrm>
          <a:prstGeom prst="roundRect">
            <a:avLst>
              <a:gd name="adj" fmla="val 1594"/>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6" name="Image 0" descr="/home/user/vikasgroup_visual_analytics_fullstack_beta/deploy/deck/shots/camera-register.png">    </p:cNvPr>
          <p:cNvPicPr>
            <a:picLocks noChangeAspect="1"/>
          </p:cNvPicPr>
          <p:nvPr/>
        </p:nvPicPr>
        <p:blipFill>
          <a:blip r:embed="rId1"/>
          <a:stretch>
            <a:fillRect/>
          </a:stretch>
        </p:blipFill>
        <p:spPr>
          <a:xfrm>
            <a:off x="566928" y="1481328"/>
            <a:ext cx="5303520" cy="3358896"/>
          </a:xfrm>
          <a:prstGeom prst="rect">
            <a:avLst/>
          </a:prstGeom>
        </p:spPr>
      </p:pic>
      <p:sp>
        <p:nvSpPr>
          <p:cNvPr id="7" name="Text 4"/>
          <p:cNvSpPr/>
          <p:nvPr/>
        </p:nvSpPr>
        <p:spPr>
          <a:xfrm>
            <a:off x="566928" y="4959096"/>
            <a:ext cx="5303520" cy="292608"/>
          </a:xfrm>
          <a:prstGeom prst="rect">
            <a:avLst/>
          </a:prstGeom>
          <a:noFill/>
          <a:ln/>
        </p:spPr>
        <p:txBody>
          <a:bodyPr wrap="square" lIns="0" tIns="0" rIns="0" bIns="0" rtlCol="0" anchor="ctr"/>
          <a:lstStyle/>
          <a:p>
            <a:pPr algn="l" indent="0" marL="0">
              <a:buNone/>
            </a:pPr>
            <a:r>
              <a:rPr lang="en-US" sz="1050" i="1" dirty="0">
                <a:solidFill>
                  <a:srgbClr val="5C6E88"/>
                </a:solidFill>
                <a:latin typeface="Calibri" pitchFamily="34" charset="0"/>
                <a:ea typeface="Calibri" pitchFamily="34" charset="-122"/>
                <a:cs typeface="Calibri" pitchFamily="34" charset="-120"/>
              </a:rPr>
              <a:t>Asked once, the first time a camera is started.</a:t>
            </a:r>
            <a:endParaRPr lang="en-US" sz="1050" dirty="0"/>
          </a:p>
        </p:txBody>
      </p:sp>
      <p:sp>
        <p:nvSpPr>
          <p:cNvPr id="8" name="Shape 5"/>
          <p:cNvSpPr/>
          <p:nvPr/>
        </p:nvSpPr>
        <p:spPr>
          <a:xfrm>
            <a:off x="6268212" y="1440180"/>
            <a:ext cx="5385816" cy="3441192"/>
          </a:xfrm>
          <a:prstGeom prst="roundRect">
            <a:avLst>
              <a:gd name="adj" fmla="val 1594"/>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9" name="Image 1" descr="/home/user/vikasgroup_visual_analytics_fullstack_beta/deploy/deck/shots/cameras.png">    </p:cNvPr>
          <p:cNvPicPr>
            <a:picLocks noChangeAspect="1"/>
          </p:cNvPicPr>
          <p:nvPr/>
        </p:nvPicPr>
        <p:blipFill>
          <a:blip r:embed="rId2"/>
          <a:stretch>
            <a:fillRect/>
          </a:stretch>
        </p:blipFill>
        <p:spPr>
          <a:xfrm>
            <a:off x="6309360" y="1481328"/>
            <a:ext cx="5303520" cy="3358896"/>
          </a:xfrm>
          <a:prstGeom prst="rect">
            <a:avLst/>
          </a:prstGeom>
        </p:spPr>
      </p:pic>
      <p:sp>
        <p:nvSpPr>
          <p:cNvPr id="10" name="Text 6"/>
          <p:cNvSpPr/>
          <p:nvPr/>
        </p:nvSpPr>
        <p:spPr>
          <a:xfrm>
            <a:off x="6309360" y="4959096"/>
            <a:ext cx="5303520" cy="292608"/>
          </a:xfrm>
          <a:prstGeom prst="rect">
            <a:avLst/>
          </a:prstGeom>
          <a:noFill/>
          <a:ln/>
        </p:spPr>
        <p:txBody>
          <a:bodyPr wrap="square" lIns="0" tIns="0" rIns="0" bIns="0" rtlCol="0" anchor="ctr"/>
          <a:lstStyle/>
          <a:p>
            <a:pPr algn="l" indent="0" marL="0">
              <a:buNone/>
            </a:pPr>
            <a:r>
              <a:rPr lang="en-US" sz="1050" i="1" dirty="0">
                <a:solidFill>
                  <a:srgbClr val="5C6E88"/>
                </a:solidFill>
                <a:latin typeface="Calibri" pitchFamily="34" charset="0"/>
                <a:ea typeface="Calibri" pitchFamily="34" charset="-122"/>
                <a:cs typeface="Calibri" pitchFamily="34" charset="-120"/>
              </a:rPr>
              <a:t>The register: name, place, status, and clock health.</a:t>
            </a:r>
            <a:endParaRPr lang="en-US" sz="1050" dirty="0"/>
          </a:p>
        </p:txBody>
      </p:sp>
      <p:sp>
        <p:nvSpPr>
          <p:cNvPr id="11" name="Text 7"/>
          <p:cNvSpPr/>
          <p:nvPr/>
        </p:nvSpPr>
        <p:spPr>
          <a:xfrm>
            <a:off x="566928" y="5440680"/>
            <a:ext cx="11018520" cy="914400"/>
          </a:xfrm>
          <a:prstGeom prst="rect">
            <a:avLst/>
          </a:prstGeom>
          <a:noFill/>
          <a:ln/>
        </p:spPr>
        <p:txBody>
          <a:bodyPr wrap="square" lIns="0" tIns="0" rIns="0" bIns="0" rtlCol="0" anchor="t"/>
          <a:lstStyle/>
          <a:p>
            <a:pPr algn="l" indent="0" marL="0">
              <a:lnSpc>
                <a:spcPts val="1900"/>
              </a:lnSpc>
              <a:buNone/>
            </a:pPr>
            <a:r>
              <a:rPr lang="en-US" sz="1300" dirty="0">
                <a:solidFill>
                  <a:srgbClr val="5C6E88"/>
                </a:solidFill>
                <a:latin typeface="Calibri" pitchFamily="34" charset="0"/>
                <a:ea typeface="Calibri" pitchFamily="34" charset="-122"/>
                <a:cs typeface="Calibri" pitchFamily="34" charset="-120"/>
              </a:rPr>
              <a:t>A camera is named and placed once. From then on it is recognised by the most stable identifier its kind can honestly offer, starts under its own name, and every safety event carries which camera saw it and where — with the camera's own clock recorded beside the server's, and a visible warning when the two disagree.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66928" y="475488"/>
            <a:ext cx="146304" cy="146304"/>
          </a:xfrm>
          <a:prstGeom prst="ellipse">
            <a:avLst/>
          </a:prstGeom>
          <a:solidFill>
            <a:srgbClr val="F2A413"/>
          </a:solidFill>
          <a:ln w="12700">
            <a:solidFill>
              <a:srgbClr val="F2A413"/>
            </a:solidFill>
            <a:prstDash val="solid"/>
          </a:ln>
        </p:spPr>
      </p:sp>
      <p:sp>
        <p:nvSpPr>
          <p:cNvPr id="3" name="Text 1"/>
          <p:cNvSpPr/>
          <p:nvPr/>
        </p:nvSpPr>
        <p:spPr>
          <a:xfrm>
            <a:off x="822960" y="457200"/>
            <a:ext cx="5943600" cy="219456"/>
          </a:xfrm>
          <a:prstGeom prst="rect">
            <a:avLst/>
          </a:prstGeom>
          <a:noFill/>
          <a:ln/>
        </p:spPr>
        <p:txBody>
          <a:bodyPr wrap="square" lIns="0" tIns="0" rIns="0" bIns="0" rtlCol="0" anchor="ctr"/>
          <a:lstStyle/>
          <a:p>
            <a:pPr indent="0" marL="0">
              <a:buNone/>
            </a:pPr>
            <a:r>
              <a:rPr lang="en-US" sz="1100" b="1" spc="160" kern="0" dirty="0">
                <a:solidFill>
                  <a:srgbClr val="F2A413"/>
                </a:solidFill>
                <a:latin typeface="Calibri" pitchFamily="34" charset="0"/>
                <a:ea typeface="Calibri" pitchFamily="34" charset="-122"/>
                <a:cs typeface="Calibri" pitchFamily="34" charset="-120"/>
              </a:rPr>
              <a:t>THE RECORD</a:t>
            </a:r>
            <a:endParaRPr lang="en-US" sz="1100" dirty="0"/>
          </a:p>
        </p:txBody>
      </p:sp>
      <p:sp>
        <p:nvSpPr>
          <p:cNvPr id="4" name="Text 2"/>
          <p:cNvSpPr/>
          <p:nvPr/>
        </p:nvSpPr>
        <p:spPr>
          <a:xfrm>
            <a:off x="566928" y="658368"/>
            <a:ext cx="10607040" cy="822960"/>
          </a:xfrm>
          <a:prstGeom prst="rect">
            <a:avLst/>
          </a:prstGeom>
          <a:noFill/>
          <a:ln/>
        </p:spPr>
        <p:txBody>
          <a:bodyPr wrap="square" lIns="0" tIns="0" rIns="0" bIns="0" rtlCol="0" anchor="ctr"/>
          <a:lstStyle/>
          <a:p>
            <a:pPr indent="0" marL="0">
              <a:buNone/>
            </a:pPr>
            <a:r>
              <a:rPr lang="en-US" sz="3400" b="1" dirty="0">
                <a:solidFill>
                  <a:srgbClr val="14243D"/>
                </a:solidFill>
                <a:latin typeface="Cambria" pitchFamily="34" charset="0"/>
                <a:ea typeface="Cambria" pitchFamily="34" charset="-122"/>
                <a:cs typeface="Cambria" pitchFamily="34" charset="-120"/>
              </a:rPr>
              <a:t>The record, and what it adds up to</a:t>
            </a:r>
            <a:endParaRPr lang="en-US" sz="3400" dirty="0"/>
          </a:p>
        </p:txBody>
      </p:sp>
      <p:sp>
        <p:nvSpPr>
          <p:cNvPr id="5" name="Shape 3"/>
          <p:cNvSpPr/>
          <p:nvPr/>
        </p:nvSpPr>
        <p:spPr>
          <a:xfrm>
            <a:off x="525780" y="1440180"/>
            <a:ext cx="5385816" cy="3441192"/>
          </a:xfrm>
          <a:prstGeom prst="roundRect">
            <a:avLst>
              <a:gd name="adj" fmla="val 1594"/>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6" name="Image 0" descr="/home/user/vikasgroup_visual_analytics_fullstack_beta/deploy/deck/shots/events.png">    </p:cNvPr>
          <p:cNvPicPr>
            <a:picLocks noChangeAspect="1"/>
          </p:cNvPicPr>
          <p:nvPr/>
        </p:nvPicPr>
        <p:blipFill>
          <a:blip r:embed="rId1"/>
          <a:stretch>
            <a:fillRect/>
          </a:stretch>
        </p:blipFill>
        <p:spPr>
          <a:xfrm>
            <a:off x="566928" y="1481328"/>
            <a:ext cx="5303520" cy="3358896"/>
          </a:xfrm>
          <a:prstGeom prst="rect">
            <a:avLst/>
          </a:prstGeom>
        </p:spPr>
      </p:pic>
      <p:sp>
        <p:nvSpPr>
          <p:cNvPr id="7" name="Text 4"/>
          <p:cNvSpPr/>
          <p:nvPr/>
        </p:nvSpPr>
        <p:spPr>
          <a:xfrm>
            <a:off x="566928" y="4959096"/>
            <a:ext cx="5303520" cy="292608"/>
          </a:xfrm>
          <a:prstGeom prst="rect">
            <a:avLst/>
          </a:prstGeom>
          <a:noFill/>
          <a:ln/>
        </p:spPr>
        <p:txBody>
          <a:bodyPr wrap="square" lIns="0" tIns="0" rIns="0" bIns="0" rtlCol="0" anchor="ctr"/>
          <a:lstStyle/>
          <a:p>
            <a:pPr algn="l" indent="0" marL="0">
              <a:buNone/>
            </a:pPr>
            <a:r>
              <a:rPr lang="en-US" sz="1050" i="1" dirty="0">
                <a:solidFill>
                  <a:srgbClr val="5C6E88"/>
                </a:solidFill>
                <a:latin typeface="Calibri" pitchFamily="34" charset="0"/>
                <a:ea typeface="Calibri" pitchFamily="34" charset="-122"/>
                <a:cs typeface="Calibri" pitchFamily="34" charset="-120"/>
              </a:rPr>
              <a:t>Safety events, each with the picture that proves it.</a:t>
            </a:r>
            <a:endParaRPr lang="en-US" sz="1050" dirty="0"/>
          </a:p>
        </p:txBody>
      </p:sp>
      <p:sp>
        <p:nvSpPr>
          <p:cNvPr id="8" name="Shape 5"/>
          <p:cNvSpPr/>
          <p:nvPr/>
        </p:nvSpPr>
        <p:spPr>
          <a:xfrm>
            <a:off x="6268212" y="1440180"/>
            <a:ext cx="5385816" cy="3441192"/>
          </a:xfrm>
          <a:prstGeom prst="roundRect">
            <a:avLst>
              <a:gd name="adj" fmla="val 1594"/>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9" name="Image 1" descr="/home/user/vikasgroup_visual_analytics_fullstack_beta/deploy/deck/shots/reports.png">    </p:cNvPr>
          <p:cNvPicPr>
            <a:picLocks noChangeAspect="1"/>
          </p:cNvPicPr>
          <p:nvPr/>
        </p:nvPicPr>
        <p:blipFill>
          <a:blip r:embed="rId2"/>
          <a:stretch>
            <a:fillRect/>
          </a:stretch>
        </p:blipFill>
        <p:spPr>
          <a:xfrm>
            <a:off x="6309360" y="1481328"/>
            <a:ext cx="5303520" cy="3358896"/>
          </a:xfrm>
          <a:prstGeom prst="rect">
            <a:avLst/>
          </a:prstGeom>
        </p:spPr>
      </p:pic>
      <p:sp>
        <p:nvSpPr>
          <p:cNvPr id="10" name="Text 6"/>
          <p:cNvSpPr/>
          <p:nvPr/>
        </p:nvSpPr>
        <p:spPr>
          <a:xfrm>
            <a:off x="6309360" y="4959096"/>
            <a:ext cx="5303520" cy="292608"/>
          </a:xfrm>
          <a:prstGeom prst="rect">
            <a:avLst/>
          </a:prstGeom>
          <a:noFill/>
          <a:ln/>
        </p:spPr>
        <p:txBody>
          <a:bodyPr wrap="square" lIns="0" tIns="0" rIns="0" bIns="0" rtlCol="0" anchor="ctr"/>
          <a:lstStyle/>
          <a:p>
            <a:pPr algn="l" indent="0" marL="0">
              <a:buNone/>
            </a:pPr>
            <a:r>
              <a:rPr lang="en-US" sz="1050" i="1" dirty="0">
                <a:solidFill>
                  <a:srgbClr val="5C6E88"/>
                </a:solidFill>
                <a:latin typeface="Calibri" pitchFamily="34" charset="0"/>
                <a:ea typeface="Calibri" pitchFamily="34" charset="-122"/>
                <a:cs typeface="Calibri" pitchFamily="34" charset="-120"/>
              </a:rPr>
              <a:t>Counts by capability and by day, exportable for Excel.</a:t>
            </a:r>
            <a:endParaRPr lang="en-US" sz="1050" dirty="0"/>
          </a:p>
        </p:txBody>
      </p:sp>
      <p:sp>
        <p:nvSpPr>
          <p:cNvPr id="11" name="Text 7"/>
          <p:cNvSpPr/>
          <p:nvPr/>
        </p:nvSpPr>
        <p:spPr>
          <a:xfrm>
            <a:off x="566928" y="5440680"/>
            <a:ext cx="5303520" cy="91440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5C6E88"/>
                </a:solidFill>
                <a:latin typeface="Calibri" pitchFamily="34" charset="0"/>
                <a:ea typeface="Calibri" pitchFamily="34" charset="-122"/>
                <a:cs typeface="Calibri" pitchFamily="34" charset="-120"/>
              </a:rPr>
              <a:t>A situation that lasts is one escalating event, not a thousand rows.</a:t>
            </a:r>
            <a:endParaRPr lang="en-US" sz="1200" dirty="0"/>
          </a:p>
          <a:p>
            <a:pPr marL="342900" indent="-342900">
              <a:lnSpc>
                <a:spcPts val="1700"/>
              </a:lnSpc>
              <a:spcAft>
                <a:spcPts val="700"/>
              </a:spcAft>
              <a:buSzPct val="100000"/>
              <a:buChar char="•"/>
            </a:pPr>
            <a:r>
              <a:rPr lang="en-US" sz="1200" dirty="0">
                <a:solidFill>
                  <a:srgbClr val="5C6E88"/>
                </a:solidFill>
                <a:latin typeface="Calibri" pitchFamily="34" charset="0"/>
                <a:ea typeface="Calibri" pitchFamily="34" charset="-122"/>
                <a:cs typeface="Calibri" pitchFamily="34" charset="-120"/>
              </a:rPr>
              <a:t>Periods reach a year, so archive footage stays reachable.</a:t>
            </a:r>
            <a:endParaRPr lang="en-US" sz="1200" dirty="0"/>
          </a:p>
        </p:txBody>
      </p:sp>
      <p:sp>
        <p:nvSpPr>
          <p:cNvPr id="12" name="Text 8"/>
          <p:cNvSpPr/>
          <p:nvPr/>
        </p:nvSpPr>
        <p:spPr>
          <a:xfrm>
            <a:off x="6309360" y="5440680"/>
            <a:ext cx="5303520" cy="91440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200" dirty="0">
                <a:solidFill>
                  <a:srgbClr val="5C6E88"/>
                </a:solidFill>
                <a:latin typeface="Calibri" pitchFamily="34" charset="0"/>
                <a:ea typeface="Calibri" pitchFamily="34" charset="-122"/>
                <a:cs typeface="Calibri" pitchFamily="34" charset="-120"/>
              </a:rPr>
              <a:t>Every event says which clock stamped it, and how that camera's clock stood.</a:t>
            </a:r>
            <a:endParaRPr lang="en-US" sz="1200" dirty="0"/>
          </a:p>
          <a:p>
            <a:pPr marL="342900" indent="-342900">
              <a:lnSpc>
                <a:spcPts val="1700"/>
              </a:lnSpc>
              <a:spcAft>
                <a:spcPts val="700"/>
              </a:spcAft>
              <a:buSzPct val="100000"/>
              <a:buChar char="•"/>
            </a:pPr>
            <a:r>
              <a:rPr lang="en-US" sz="1200" dirty="0">
                <a:solidFill>
                  <a:srgbClr val="5C6E88"/>
                </a:solidFill>
                <a:latin typeface="Calibri" pitchFamily="34" charset="0"/>
                <a:ea typeface="Calibri" pitchFamily="34" charset="-122"/>
                <a:cs typeface="Calibri" pitchFamily="34" charset="-120"/>
              </a:rPr>
              <a:t>An export stops at its newest 500 rows — and the page says so.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D33"/>
        </a:solidFill>
      </p:bgPr>
    </p:bg>
    <p:spTree>
      <p:nvGrpSpPr>
        <p:cNvPr id="1" name=""/>
        <p:cNvGrpSpPr/>
        <p:nvPr/>
      </p:nvGrpSpPr>
      <p:grpSpPr>
        <a:xfrm>
          <a:off x="0" y="0"/>
          <a:ext cx="0" cy="0"/>
          <a:chOff x="0" y="0"/>
          <a:chExt cx="0" cy="0"/>
        </a:xfrm>
      </p:grpSpPr>
      <p:sp>
        <p:nvSpPr>
          <p:cNvPr id="2" name="Shape 0"/>
          <p:cNvSpPr/>
          <p:nvPr/>
        </p:nvSpPr>
        <p:spPr>
          <a:xfrm>
            <a:off x="566928" y="475488"/>
            <a:ext cx="146304" cy="146304"/>
          </a:xfrm>
          <a:prstGeom prst="ellipse">
            <a:avLst/>
          </a:prstGeom>
          <a:solidFill>
            <a:srgbClr val="F2A413"/>
          </a:solidFill>
          <a:ln w="12700">
            <a:solidFill>
              <a:srgbClr val="F2A413"/>
            </a:solidFill>
            <a:prstDash val="solid"/>
          </a:ln>
        </p:spPr>
      </p:sp>
      <p:sp>
        <p:nvSpPr>
          <p:cNvPr id="3" name="Text 1"/>
          <p:cNvSpPr/>
          <p:nvPr/>
        </p:nvSpPr>
        <p:spPr>
          <a:xfrm>
            <a:off x="822960" y="457200"/>
            <a:ext cx="5943600" cy="219456"/>
          </a:xfrm>
          <a:prstGeom prst="rect">
            <a:avLst/>
          </a:prstGeom>
          <a:noFill/>
          <a:ln/>
        </p:spPr>
        <p:txBody>
          <a:bodyPr wrap="square" lIns="0" tIns="0" rIns="0" bIns="0" rtlCol="0" anchor="ctr"/>
          <a:lstStyle/>
          <a:p>
            <a:pPr indent="0" marL="0">
              <a:buNone/>
            </a:pPr>
            <a:r>
              <a:rPr lang="en-US" sz="1100" b="1" spc="160" kern="0" dirty="0">
                <a:solidFill>
                  <a:srgbClr val="F2A413"/>
                </a:solidFill>
                <a:latin typeface="Calibri" pitchFamily="34" charset="0"/>
                <a:ea typeface="Calibri" pitchFamily="34" charset="-122"/>
                <a:cs typeface="Calibri" pitchFamily="34" charset="-120"/>
              </a:rPr>
              <a:t>HOW IT IS VERIFIED</a:t>
            </a:r>
            <a:endParaRPr lang="en-US" sz="1100" dirty="0"/>
          </a:p>
        </p:txBody>
      </p:sp>
      <p:sp>
        <p:nvSpPr>
          <p:cNvPr id="4" name="Text 2"/>
          <p:cNvSpPr/>
          <p:nvPr/>
        </p:nvSpPr>
        <p:spPr>
          <a:xfrm>
            <a:off x="566928" y="658368"/>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Every claim here is measured</a:t>
            </a:r>
            <a:endParaRPr lang="en-US" sz="3400" dirty="0"/>
          </a:p>
        </p:txBody>
      </p:sp>
      <p:sp>
        <p:nvSpPr>
          <p:cNvPr id="5" name="Text 3"/>
          <p:cNvSpPr/>
          <p:nvPr/>
        </p:nvSpPr>
        <p:spPr>
          <a:xfrm>
            <a:off x="566928" y="1691640"/>
            <a:ext cx="5577840" cy="1463040"/>
          </a:xfrm>
          <a:prstGeom prst="rect">
            <a:avLst/>
          </a:prstGeom>
          <a:noFill/>
          <a:ln/>
        </p:spPr>
        <p:txBody>
          <a:bodyPr wrap="square" lIns="0" tIns="0" rIns="0" bIns="0" rtlCol="0" anchor="t"/>
          <a:lstStyle/>
          <a:p>
            <a:pPr algn="l" indent="0" marL="0">
              <a:lnSpc>
                <a:spcPts val="2200"/>
              </a:lnSpc>
              <a:buNone/>
            </a:pPr>
            <a:r>
              <a:rPr lang="en-US" sz="1400" dirty="0">
                <a:solidFill>
                  <a:srgbClr val="C6D2E4"/>
                </a:solidFill>
                <a:latin typeface="Calibri" pitchFamily="34" charset="0"/>
                <a:ea typeface="Calibri" pitchFamily="34" charset="-122"/>
                <a:cs typeface="Calibri" pitchFamily="34" charset="-120"/>
              </a:rPr>
              <a:t>Fifty-one defects were found in the original build and each was fixed against a check that fails if it returns. Eleven suites drive the running product — not mocks — and every capability added since arrives with its own.</a:t>
            </a:r>
            <a:endParaRPr lang="en-US" sz="1400" dirty="0"/>
          </a:p>
        </p:txBody>
      </p:sp>
      <p:sp>
        <p:nvSpPr>
          <p:cNvPr id="6" name="Shape 4"/>
          <p:cNvSpPr/>
          <p:nvPr/>
        </p:nvSpPr>
        <p:spPr>
          <a:xfrm>
            <a:off x="566928" y="3483864"/>
            <a:ext cx="256032" cy="256032"/>
          </a:xfrm>
          <a:prstGeom prst="ellipse">
            <a:avLst/>
          </a:prstGeom>
          <a:solidFill>
            <a:srgbClr val="F2A413"/>
          </a:solidFill>
          <a:ln w="12700">
            <a:solidFill>
              <a:srgbClr val="F2A413"/>
            </a:solidFill>
            <a:prstDash val="solid"/>
          </a:ln>
        </p:spPr>
      </p:sp>
      <p:sp>
        <p:nvSpPr>
          <p:cNvPr id="7" name="Text 5"/>
          <p:cNvSpPr/>
          <p:nvPr/>
        </p:nvSpPr>
        <p:spPr>
          <a:xfrm>
            <a:off x="969264" y="3429000"/>
            <a:ext cx="502920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Six phase suites</a:t>
            </a:r>
            <a:endParaRPr lang="en-US" sz="1400" dirty="0"/>
          </a:p>
        </p:txBody>
      </p:sp>
      <p:sp>
        <p:nvSpPr>
          <p:cNvPr id="8" name="Text 6"/>
          <p:cNvSpPr/>
          <p:nvPr/>
        </p:nvSpPr>
        <p:spPr>
          <a:xfrm>
            <a:off x="969264" y="3758184"/>
            <a:ext cx="5029200" cy="310896"/>
          </a:xfrm>
          <a:prstGeom prst="rect">
            <a:avLst/>
          </a:prstGeom>
          <a:noFill/>
          <a:ln/>
        </p:spPr>
        <p:txBody>
          <a:bodyPr wrap="square" lIns="0" tIns="0" rIns="0" bIns="0" rtlCol="0" anchor="ctr"/>
          <a:lstStyle/>
          <a:p>
            <a:pPr indent="0" marL="0">
              <a:buNone/>
            </a:pPr>
            <a:r>
              <a:rPr lang="en-US" sz="1150" dirty="0">
                <a:solidFill>
                  <a:srgbClr val="8FA3C0"/>
                </a:solidFill>
                <a:latin typeface="Calibri" pitchFamily="34" charset="0"/>
                <a:ea typeface="Calibri" pitchFamily="34" charset="-122"/>
                <a:cs typeface="Calibri" pitchFamily="34" charset="-120"/>
              </a:rPr>
              <a:t>truth-telling, state, uncertainty, geometry, belief, surfaces</a:t>
            </a:r>
            <a:endParaRPr lang="en-US" sz="1150" dirty="0"/>
          </a:p>
        </p:txBody>
      </p:sp>
      <p:sp>
        <p:nvSpPr>
          <p:cNvPr id="9" name="Shape 7"/>
          <p:cNvSpPr/>
          <p:nvPr/>
        </p:nvSpPr>
        <p:spPr>
          <a:xfrm>
            <a:off x="566928" y="4443984"/>
            <a:ext cx="256032" cy="256032"/>
          </a:xfrm>
          <a:prstGeom prst="ellipse">
            <a:avLst/>
          </a:prstGeom>
          <a:solidFill>
            <a:srgbClr val="F2A413"/>
          </a:solidFill>
          <a:ln w="12700">
            <a:solidFill>
              <a:srgbClr val="F2A413"/>
            </a:solidFill>
            <a:prstDash val="solid"/>
          </a:ln>
        </p:spPr>
      </p:sp>
      <p:sp>
        <p:nvSpPr>
          <p:cNvPr id="10" name="Text 8"/>
          <p:cNvSpPr/>
          <p:nvPr/>
        </p:nvSpPr>
        <p:spPr>
          <a:xfrm>
            <a:off x="969264" y="4389120"/>
            <a:ext cx="502920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Five capability suites</a:t>
            </a:r>
            <a:endParaRPr lang="en-US" sz="1400" dirty="0"/>
          </a:p>
        </p:txBody>
      </p:sp>
      <p:sp>
        <p:nvSpPr>
          <p:cNvPr id="11" name="Text 9"/>
          <p:cNvSpPr/>
          <p:nvPr/>
        </p:nvSpPr>
        <p:spPr>
          <a:xfrm>
            <a:off x="969264" y="4718304"/>
            <a:ext cx="5029200" cy="310896"/>
          </a:xfrm>
          <a:prstGeom prst="rect">
            <a:avLst/>
          </a:prstGeom>
          <a:noFill/>
          <a:ln/>
        </p:spPr>
        <p:txBody>
          <a:bodyPr wrap="square" lIns="0" tIns="0" rIns="0" bIns="0" rtlCol="0" anchor="ctr"/>
          <a:lstStyle/>
          <a:p>
            <a:pPr indent="0" marL="0">
              <a:buNone/>
            </a:pPr>
            <a:r>
              <a:rPr lang="en-US" sz="1150" dirty="0">
                <a:solidFill>
                  <a:srgbClr val="8FA3C0"/>
                </a:solidFill>
                <a:latin typeface="Calibri" pitchFamily="34" charset="0"/>
                <a:ea typeface="Calibri" pitchFamily="34" charset="-122"/>
                <a:cs typeface="Calibri" pitchFamily="34" charset="-120"/>
              </a:rPr>
              <a:t>zones, walkways, workstations, camera register, timestamps</a:t>
            </a:r>
            <a:endParaRPr lang="en-US" sz="1150" dirty="0"/>
          </a:p>
        </p:txBody>
      </p:sp>
      <p:sp>
        <p:nvSpPr>
          <p:cNvPr id="12" name="Shape 10"/>
          <p:cNvSpPr/>
          <p:nvPr/>
        </p:nvSpPr>
        <p:spPr>
          <a:xfrm>
            <a:off x="566928" y="5404104"/>
            <a:ext cx="256032" cy="256032"/>
          </a:xfrm>
          <a:prstGeom prst="ellipse">
            <a:avLst/>
          </a:prstGeom>
          <a:solidFill>
            <a:srgbClr val="F2A413"/>
          </a:solidFill>
          <a:ln w="12700">
            <a:solidFill>
              <a:srgbClr val="F2A413"/>
            </a:solidFill>
            <a:prstDash val="solid"/>
          </a:ln>
        </p:spPr>
      </p:sp>
      <p:sp>
        <p:nvSpPr>
          <p:cNvPr id="13" name="Text 11"/>
          <p:cNvSpPr/>
          <p:nvPr/>
        </p:nvSpPr>
        <p:spPr>
          <a:xfrm>
            <a:off x="969264" y="5349240"/>
            <a:ext cx="502920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Real browsers, real footage</a:t>
            </a:r>
            <a:endParaRPr lang="en-US" sz="1400" dirty="0"/>
          </a:p>
        </p:txBody>
      </p:sp>
      <p:sp>
        <p:nvSpPr>
          <p:cNvPr id="14" name="Text 12"/>
          <p:cNvSpPr/>
          <p:nvPr/>
        </p:nvSpPr>
        <p:spPr>
          <a:xfrm>
            <a:off x="969264" y="5678424"/>
            <a:ext cx="5029200" cy="310896"/>
          </a:xfrm>
          <a:prstGeom prst="rect">
            <a:avLst/>
          </a:prstGeom>
          <a:noFill/>
          <a:ln/>
        </p:spPr>
        <p:txBody>
          <a:bodyPr wrap="square" lIns="0" tIns="0" rIns="0" bIns="0" rtlCol="0" anchor="ctr"/>
          <a:lstStyle/>
          <a:p>
            <a:pPr indent="0" marL="0">
              <a:buNone/>
            </a:pPr>
            <a:r>
              <a:rPr lang="en-US" sz="1150" dirty="0">
                <a:solidFill>
                  <a:srgbClr val="8FA3C0"/>
                </a:solidFill>
                <a:latin typeface="Calibri" pitchFamily="34" charset="0"/>
                <a:ea typeface="Calibri" pitchFamily="34" charset="-122"/>
                <a:cs typeface="Calibri" pitchFamily="34" charset="-120"/>
              </a:rPr>
              <a:t>pixels, sockets and spoken alerts, not JSON alone</a:t>
            </a:r>
            <a:endParaRPr lang="en-US" sz="1150" dirty="0"/>
          </a:p>
        </p:txBody>
      </p:sp>
      <p:sp>
        <p:nvSpPr>
          <p:cNvPr id="15" name="Shape 13"/>
          <p:cNvSpPr/>
          <p:nvPr/>
        </p:nvSpPr>
        <p:spPr>
          <a:xfrm>
            <a:off x="6679692" y="1696212"/>
            <a:ext cx="4928616" cy="3340824"/>
          </a:xfrm>
          <a:prstGeom prst="roundRect">
            <a:avLst>
              <a:gd name="adj" fmla="val 1642"/>
            </a:avLst>
          </a:prstGeom>
          <a:solidFill>
            <a:srgbClr val="FFFFFF"/>
          </a:solidFill>
          <a:ln w="9525">
            <a:solidFill>
              <a:srgbClr val="DDE3EC"/>
            </a:solidFill>
            <a:prstDash val="solid"/>
          </a:ln>
          <a:effectLst>
            <a:outerShdw sx="100000" sy="100000" kx="0" ky="0" algn="bl" rotWithShape="0" blurRad="177800" dist="38100" dir="5400000">
              <a:srgbClr val="0A1626">
                <a:alpha val="22000"/>
              </a:srgbClr>
            </a:outerShdw>
          </a:effectLst>
        </p:spPr>
      </p:sp>
      <p:pic>
        <p:nvPicPr>
          <p:cNvPr id="16" name="Image 0" descr="/home/user/vikasgroup_visual_analytics_fullstack_beta/deploy/deck/shots/clock-valid-trim.png">    </p:cNvPr>
          <p:cNvPicPr>
            <a:picLocks noChangeAspect="1"/>
          </p:cNvPicPr>
          <p:nvPr/>
        </p:nvPicPr>
        <p:blipFill>
          <a:blip r:embed="rId1"/>
          <a:stretch>
            <a:fillRect/>
          </a:stretch>
        </p:blipFill>
        <p:spPr>
          <a:xfrm>
            <a:off x="6720840" y="1737360"/>
            <a:ext cx="4846320" cy="3258528"/>
          </a:xfrm>
          <a:prstGeom prst="rect">
            <a:avLst/>
          </a:prstGeom>
        </p:spPr>
      </p:pic>
      <p:sp>
        <p:nvSpPr>
          <p:cNvPr id="17" name="Text 14"/>
          <p:cNvSpPr/>
          <p:nvPr/>
        </p:nvSpPr>
        <p:spPr>
          <a:xfrm>
            <a:off x="6720840" y="5114760"/>
            <a:ext cx="4846320" cy="292608"/>
          </a:xfrm>
          <a:prstGeom prst="rect">
            <a:avLst/>
          </a:prstGeom>
          <a:noFill/>
          <a:ln/>
        </p:spPr>
        <p:txBody>
          <a:bodyPr wrap="square" lIns="0" tIns="0" rIns="0" bIns="0" rtlCol="0" anchor="ctr"/>
          <a:lstStyle/>
          <a:p>
            <a:pPr algn="l" indent="0" marL="0">
              <a:buNone/>
            </a:pPr>
            <a:r>
              <a:rPr lang="en-US" sz="1050" i="1" dirty="0">
                <a:solidFill>
                  <a:srgbClr val="8FA3C0"/>
                </a:solidFill>
                <a:latin typeface="Calibri" pitchFamily="34" charset="0"/>
                <a:ea typeface="Calibri" pitchFamily="34" charset="-122"/>
                <a:cs typeface="Calibri" pitchFamily="34" charset="-120"/>
              </a:rPr>
              <a:t>The product says what it is doing, in words an operator can act 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75488"/>
            <a:ext cx="146304" cy="146304"/>
          </a:xfrm>
          <a:prstGeom prst="ellipse">
            <a:avLst/>
          </a:prstGeom>
          <a:solidFill>
            <a:srgbClr val="C8433F"/>
          </a:solidFill>
          <a:ln w="12700">
            <a:solidFill>
              <a:srgbClr val="C8433F"/>
            </a:solidFill>
            <a:prstDash val="solid"/>
          </a:ln>
        </p:spPr>
      </p:sp>
      <p:sp>
        <p:nvSpPr>
          <p:cNvPr id="3" name="Text 1"/>
          <p:cNvSpPr/>
          <p:nvPr/>
        </p:nvSpPr>
        <p:spPr>
          <a:xfrm>
            <a:off x="822960" y="457200"/>
            <a:ext cx="5943600" cy="219456"/>
          </a:xfrm>
          <a:prstGeom prst="rect">
            <a:avLst/>
          </a:prstGeom>
          <a:noFill/>
          <a:ln/>
        </p:spPr>
        <p:txBody>
          <a:bodyPr wrap="square" lIns="0" tIns="0" rIns="0" bIns="0" rtlCol="0" anchor="ctr"/>
          <a:lstStyle/>
          <a:p>
            <a:pPr indent="0" marL="0">
              <a:buNone/>
            </a:pPr>
            <a:r>
              <a:rPr lang="en-US" sz="1100" b="1" spc="160" kern="0" dirty="0">
                <a:solidFill>
                  <a:srgbClr val="C8433F"/>
                </a:solidFill>
                <a:latin typeface="Calibri" pitchFamily="34" charset="0"/>
                <a:ea typeface="Calibri" pitchFamily="34" charset="-122"/>
                <a:cs typeface="Calibri" pitchFamily="34" charset="-120"/>
              </a:rPr>
              <a:t>KNOWN LIMITS</a:t>
            </a:r>
            <a:endParaRPr lang="en-US" sz="1100" dirty="0"/>
          </a:p>
        </p:txBody>
      </p:sp>
      <p:sp>
        <p:nvSpPr>
          <p:cNvPr id="4" name="Text 2"/>
          <p:cNvSpPr/>
          <p:nvPr/>
        </p:nvSpPr>
        <p:spPr>
          <a:xfrm>
            <a:off x="566928" y="658368"/>
            <a:ext cx="10607040" cy="822960"/>
          </a:xfrm>
          <a:prstGeom prst="rect">
            <a:avLst/>
          </a:prstGeom>
          <a:noFill/>
          <a:ln/>
        </p:spPr>
        <p:txBody>
          <a:bodyPr wrap="square" lIns="0" tIns="0" rIns="0" bIns="0" rtlCol="0" anchor="ctr"/>
          <a:lstStyle/>
          <a:p>
            <a:pPr indent="0" marL="0">
              <a:buNone/>
            </a:pPr>
            <a:r>
              <a:rPr lang="en-US" sz="3400" b="1" dirty="0">
                <a:solidFill>
                  <a:srgbClr val="14243D"/>
                </a:solidFill>
                <a:latin typeface="Cambria" pitchFamily="34" charset="0"/>
                <a:ea typeface="Cambria" pitchFamily="34" charset="-122"/>
                <a:cs typeface="Cambria" pitchFamily="34" charset="-120"/>
              </a:rPr>
              <a:t>What it cannot do yet</a:t>
            </a:r>
            <a:endParaRPr lang="en-US" sz="3400" dirty="0"/>
          </a:p>
        </p:txBody>
      </p:sp>
      <p:sp>
        <p:nvSpPr>
          <p:cNvPr id="5" name="Shape 3"/>
          <p:cNvSpPr/>
          <p:nvPr/>
        </p:nvSpPr>
        <p:spPr>
          <a:xfrm>
            <a:off x="566928" y="1572768"/>
            <a:ext cx="5440680" cy="1828800"/>
          </a:xfrm>
          <a:prstGeom prst="roundRect">
            <a:avLst>
              <a:gd name="adj" fmla="val 4000"/>
            </a:avLst>
          </a:prstGeom>
          <a:solidFill>
            <a:srgbClr val="F5F7FA"/>
          </a:solidFill>
          <a:ln w="9525">
            <a:solidFill>
              <a:srgbClr val="E3E8F0"/>
            </a:solidFill>
            <a:prstDash val="solid"/>
          </a:ln>
        </p:spPr>
      </p:sp>
      <p:sp>
        <p:nvSpPr>
          <p:cNvPr id="6" name="Text 4"/>
          <p:cNvSpPr/>
          <p:nvPr/>
        </p:nvSpPr>
        <p:spPr>
          <a:xfrm>
            <a:off x="859536" y="1810512"/>
            <a:ext cx="4846320" cy="329184"/>
          </a:xfrm>
          <a:prstGeom prst="rect">
            <a:avLst/>
          </a:prstGeom>
          <a:noFill/>
          <a:ln/>
        </p:spPr>
        <p:txBody>
          <a:bodyPr wrap="square" lIns="0" tIns="0" rIns="0" bIns="0" rtlCol="0" anchor="ctr"/>
          <a:lstStyle/>
          <a:p>
            <a:pPr indent="0" marL="0">
              <a:buNone/>
            </a:pPr>
            <a:r>
              <a:rPr lang="en-US" sz="1400" b="1" dirty="0">
                <a:solidFill>
                  <a:srgbClr val="14243D"/>
                </a:solidFill>
                <a:latin typeface="Calibri" pitchFamily="34" charset="0"/>
                <a:ea typeface="Calibri" pitchFamily="34" charset="-122"/>
                <a:cs typeface="Calibri" pitchFamily="34" charset="-120"/>
              </a:rPr>
              <a:t>Trained on other people's data</a:t>
            </a:r>
            <a:endParaRPr lang="en-US" sz="1400" dirty="0"/>
          </a:p>
        </p:txBody>
      </p:sp>
      <p:sp>
        <p:nvSpPr>
          <p:cNvPr id="7" name="Text 5"/>
          <p:cNvSpPr/>
          <p:nvPr/>
        </p:nvSpPr>
        <p:spPr>
          <a:xfrm>
            <a:off x="859536" y="2139696"/>
            <a:ext cx="4846320" cy="1005840"/>
          </a:xfrm>
          <a:prstGeom prst="rect">
            <a:avLst/>
          </a:prstGeom>
          <a:noFill/>
          <a:ln/>
        </p:spPr>
        <p:txBody>
          <a:bodyPr wrap="square" lIns="0" tIns="0" rIns="0" bIns="0" rtlCol="0" anchor="ctr"/>
          <a:lstStyle/>
          <a:p>
            <a:pPr indent="0" marL="0">
              <a:lnSpc>
                <a:spcPts val="1700"/>
              </a:lnSpc>
              <a:buNone/>
            </a:pPr>
            <a:r>
              <a:rPr lang="en-US" sz="1200" dirty="0">
                <a:solidFill>
                  <a:srgbClr val="5C6E88"/>
                </a:solidFill>
                <a:latin typeface="Calibri" pitchFamily="34" charset="0"/>
                <a:ea typeface="Calibri" pitchFamily="34" charset="-122"/>
                <a:cs typeface="Calibri" pitchFamily="34" charset="-120"/>
              </a:rPr>
              <a:t>The forklift weights know one class and were measured on two clips of one warehouse. On a site they have not seen, check the setting before trusting it.</a:t>
            </a:r>
            <a:endParaRPr lang="en-US" sz="1200" dirty="0"/>
          </a:p>
        </p:txBody>
      </p:sp>
      <p:sp>
        <p:nvSpPr>
          <p:cNvPr id="8" name="Shape 6"/>
          <p:cNvSpPr/>
          <p:nvPr/>
        </p:nvSpPr>
        <p:spPr>
          <a:xfrm>
            <a:off x="6373368" y="1572768"/>
            <a:ext cx="5440680" cy="1828800"/>
          </a:xfrm>
          <a:prstGeom prst="roundRect">
            <a:avLst>
              <a:gd name="adj" fmla="val 4000"/>
            </a:avLst>
          </a:prstGeom>
          <a:solidFill>
            <a:srgbClr val="F5F7FA"/>
          </a:solidFill>
          <a:ln w="9525">
            <a:solidFill>
              <a:srgbClr val="E3E8F0"/>
            </a:solidFill>
            <a:prstDash val="solid"/>
          </a:ln>
        </p:spPr>
      </p:sp>
      <p:sp>
        <p:nvSpPr>
          <p:cNvPr id="9" name="Text 7"/>
          <p:cNvSpPr/>
          <p:nvPr/>
        </p:nvSpPr>
        <p:spPr>
          <a:xfrm>
            <a:off x="6665976" y="1810512"/>
            <a:ext cx="4846320" cy="329184"/>
          </a:xfrm>
          <a:prstGeom prst="rect">
            <a:avLst/>
          </a:prstGeom>
          <a:noFill/>
          <a:ln/>
        </p:spPr>
        <p:txBody>
          <a:bodyPr wrap="square" lIns="0" tIns="0" rIns="0" bIns="0" rtlCol="0" anchor="ctr"/>
          <a:lstStyle/>
          <a:p>
            <a:pPr indent="0" marL="0">
              <a:buNone/>
            </a:pPr>
            <a:r>
              <a:rPr lang="en-US" sz="1400" b="1" dirty="0">
                <a:solidFill>
                  <a:srgbClr val="14243D"/>
                </a:solidFill>
                <a:latin typeface="Calibri" pitchFamily="34" charset="0"/>
                <a:ea typeface="Calibri" pitchFamily="34" charset="-122"/>
                <a:cs typeface="Calibri" pitchFamily="34" charset="-120"/>
              </a:rPr>
              <a:t>Colour-blind on the floor</a:t>
            </a:r>
            <a:endParaRPr lang="en-US" sz="1400" dirty="0"/>
          </a:p>
        </p:txBody>
      </p:sp>
      <p:sp>
        <p:nvSpPr>
          <p:cNvPr id="10" name="Text 8"/>
          <p:cNvSpPr/>
          <p:nvPr/>
        </p:nvSpPr>
        <p:spPr>
          <a:xfrm>
            <a:off x="6665976" y="2139696"/>
            <a:ext cx="4846320" cy="1005840"/>
          </a:xfrm>
          <a:prstGeom prst="rect">
            <a:avLst/>
          </a:prstGeom>
          <a:noFill/>
          <a:ln/>
        </p:spPr>
        <p:txBody>
          <a:bodyPr wrap="square" lIns="0" tIns="0" rIns="0" bIns="0" rtlCol="0" anchor="ctr"/>
          <a:lstStyle/>
          <a:p>
            <a:pPr indent="0" marL="0">
              <a:lnSpc>
                <a:spcPts val="1700"/>
              </a:lnSpc>
              <a:buNone/>
            </a:pPr>
            <a:r>
              <a:rPr lang="en-US" sz="1200" dirty="0">
                <a:solidFill>
                  <a:srgbClr val="5C6E88"/>
                </a:solidFill>
                <a:latin typeface="Calibri" pitchFamily="34" charset="0"/>
                <a:ea typeface="Calibri" pitchFamily="34" charset="-122"/>
                <a:cs typeface="Calibri" pitchFamily="34" charset="-120"/>
              </a:rPr>
              <a:t>The walkway detector finds what is not floor — so an object the same colour as the floor beneath it is invisible to it.</a:t>
            </a:r>
            <a:endParaRPr lang="en-US" sz="1200" dirty="0"/>
          </a:p>
        </p:txBody>
      </p:sp>
      <p:sp>
        <p:nvSpPr>
          <p:cNvPr id="11" name="Shape 9"/>
          <p:cNvSpPr/>
          <p:nvPr/>
        </p:nvSpPr>
        <p:spPr>
          <a:xfrm>
            <a:off x="566928" y="3675888"/>
            <a:ext cx="5440680" cy="1828800"/>
          </a:xfrm>
          <a:prstGeom prst="roundRect">
            <a:avLst>
              <a:gd name="adj" fmla="val 4000"/>
            </a:avLst>
          </a:prstGeom>
          <a:solidFill>
            <a:srgbClr val="F5F7FA"/>
          </a:solidFill>
          <a:ln w="9525">
            <a:solidFill>
              <a:srgbClr val="E3E8F0"/>
            </a:solidFill>
            <a:prstDash val="solid"/>
          </a:ln>
        </p:spPr>
      </p:sp>
      <p:sp>
        <p:nvSpPr>
          <p:cNvPr id="12" name="Text 10"/>
          <p:cNvSpPr/>
          <p:nvPr/>
        </p:nvSpPr>
        <p:spPr>
          <a:xfrm>
            <a:off x="859536" y="3913632"/>
            <a:ext cx="4846320" cy="329184"/>
          </a:xfrm>
          <a:prstGeom prst="rect">
            <a:avLst/>
          </a:prstGeom>
          <a:noFill/>
          <a:ln/>
        </p:spPr>
        <p:txBody>
          <a:bodyPr wrap="square" lIns="0" tIns="0" rIns="0" bIns="0" rtlCol="0" anchor="ctr"/>
          <a:lstStyle/>
          <a:p>
            <a:pPr indent="0" marL="0">
              <a:buNone/>
            </a:pPr>
            <a:r>
              <a:rPr lang="en-US" sz="1400" b="1" dirty="0">
                <a:solidFill>
                  <a:srgbClr val="14243D"/>
                </a:solidFill>
                <a:latin typeface="Calibri" pitchFamily="34" charset="0"/>
                <a:ea typeface="Calibri" pitchFamily="34" charset="-122"/>
                <a:cs typeface="Calibri" pitchFamily="34" charset="-120"/>
              </a:rPr>
              <a:t>A burned clock names no timezone</a:t>
            </a:r>
            <a:endParaRPr lang="en-US" sz="1400" dirty="0"/>
          </a:p>
        </p:txBody>
      </p:sp>
      <p:sp>
        <p:nvSpPr>
          <p:cNvPr id="13" name="Text 11"/>
          <p:cNvSpPr/>
          <p:nvPr/>
        </p:nvSpPr>
        <p:spPr>
          <a:xfrm>
            <a:off x="859536" y="4242816"/>
            <a:ext cx="4846320" cy="1005840"/>
          </a:xfrm>
          <a:prstGeom prst="rect">
            <a:avLst/>
          </a:prstGeom>
          <a:noFill/>
          <a:ln/>
        </p:spPr>
        <p:txBody>
          <a:bodyPr wrap="square" lIns="0" tIns="0" rIns="0" bIns="0" rtlCol="0" anchor="ctr"/>
          <a:lstStyle/>
          <a:p>
            <a:pPr indent="0" marL="0">
              <a:lnSpc>
                <a:spcPts val="1700"/>
              </a:lnSpc>
              <a:buNone/>
            </a:pPr>
            <a:r>
              <a:rPr lang="en-US" sz="1200" dirty="0">
                <a:solidFill>
                  <a:srgbClr val="5C6E88"/>
                </a:solidFill>
                <a:latin typeface="Calibri" pitchFamily="34" charset="0"/>
                <a:ea typeface="Calibri" pitchFamily="34" charset="-122"/>
                <a:cs typeface="Calibri" pitchFamily="34" charset="-120"/>
              </a:rPr>
              <a:t>So it is stored and shown exactly as the footage shows it, never converted to yours.</a:t>
            </a:r>
            <a:endParaRPr lang="en-US" sz="1200" dirty="0"/>
          </a:p>
        </p:txBody>
      </p:sp>
      <p:sp>
        <p:nvSpPr>
          <p:cNvPr id="14" name="Shape 12"/>
          <p:cNvSpPr/>
          <p:nvPr/>
        </p:nvSpPr>
        <p:spPr>
          <a:xfrm>
            <a:off x="6373368" y="3675888"/>
            <a:ext cx="5440680" cy="1828800"/>
          </a:xfrm>
          <a:prstGeom prst="roundRect">
            <a:avLst>
              <a:gd name="adj" fmla="val 4000"/>
            </a:avLst>
          </a:prstGeom>
          <a:solidFill>
            <a:srgbClr val="F5F7FA"/>
          </a:solidFill>
          <a:ln w="9525">
            <a:solidFill>
              <a:srgbClr val="E3E8F0"/>
            </a:solidFill>
            <a:prstDash val="solid"/>
          </a:ln>
        </p:spPr>
      </p:sp>
      <p:sp>
        <p:nvSpPr>
          <p:cNvPr id="15" name="Text 13"/>
          <p:cNvSpPr/>
          <p:nvPr/>
        </p:nvSpPr>
        <p:spPr>
          <a:xfrm>
            <a:off x="6665976" y="3913632"/>
            <a:ext cx="4846320" cy="329184"/>
          </a:xfrm>
          <a:prstGeom prst="rect">
            <a:avLst/>
          </a:prstGeom>
          <a:noFill/>
          <a:ln/>
        </p:spPr>
        <p:txBody>
          <a:bodyPr wrap="square" lIns="0" tIns="0" rIns="0" bIns="0" rtlCol="0" anchor="ctr"/>
          <a:lstStyle/>
          <a:p>
            <a:pPr indent="0" marL="0">
              <a:buNone/>
            </a:pPr>
            <a:r>
              <a:rPr lang="en-US" sz="1400" b="1" dirty="0">
                <a:solidFill>
                  <a:srgbClr val="14243D"/>
                </a:solidFill>
                <a:latin typeface="Calibri" pitchFamily="34" charset="0"/>
                <a:ea typeface="Calibri" pitchFamily="34" charset="-122"/>
                <a:cs typeface="Calibri" pitchFamily="34" charset="-120"/>
              </a:rPr>
              <a:t>Glass doors</a:t>
            </a:r>
            <a:endParaRPr lang="en-US" sz="1400" dirty="0"/>
          </a:p>
        </p:txBody>
      </p:sp>
      <p:sp>
        <p:nvSpPr>
          <p:cNvPr id="16" name="Text 14"/>
          <p:cNvSpPr/>
          <p:nvPr/>
        </p:nvSpPr>
        <p:spPr>
          <a:xfrm>
            <a:off x="6665976" y="4242816"/>
            <a:ext cx="4846320" cy="1005840"/>
          </a:xfrm>
          <a:prstGeom prst="rect">
            <a:avLst/>
          </a:prstGeom>
          <a:noFill/>
          <a:ln/>
        </p:spPr>
        <p:txBody>
          <a:bodyPr wrap="square" lIns="0" tIns="0" rIns="0" bIns="0" rtlCol="0" anchor="ctr"/>
          <a:lstStyle/>
          <a:p>
            <a:pPr indent="0" marL="0">
              <a:lnSpc>
                <a:spcPts val="1700"/>
              </a:lnSpc>
              <a:buNone/>
            </a:pPr>
            <a:r>
              <a:rPr lang="en-US" sz="1200" dirty="0">
                <a:solidFill>
                  <a:srgbClr val="5C6E88"/>
                </a:solidFill>
                <a:latin typeface="Calibri" pitchFamily="34" charset="0"/>
                <a:ea typeface="Calibri" pitchFamily="34" charset="-122"/>
                <a:cs typeface="Calibri" pitchFamily="34" charset="-120"/>
              </a:rPr>
              <a:t>Reflections read as open. The evidence is recorded rather than papered over; it needs footage and retraining, not code.</a:t>
            </a:r>
            <a:endParaRPr lang="en-US" sz="1200" dirty="0"/>
          </a:p>
        </p:txBody>
      </p:sp>
      <p:sp>
        <p:nvSpPr>
          <p:cNvPr id="17" name="Text 15"/>
          <p:cNvSpPr/>
          <p:nvPr/>
        </p:nvSpPr>
        <p:spPr>
          <a:xfrm>
            <a:off x="566928" y="5989320"/>
            <a:ext cx="11018520" cy="457200"/>
          </a:xfrm>
          <a:prstGeom prst="rect">
            <a:avLst/>
          </a:prstGeom>
          <a:noFill/>
          <a:ln/>
        </p:spPr>
        <p:txBody>
          <a:bodyPr wrap="square" lIns="0" tIns="0" rIns="0" bIns="0" rtlCol="0" anchor="t"/>
          <a:lstStyle/>
          <a:p>
            <a:pPr algn="l" indent="0" marL="0">
              <a:lnSpc>
                <a:spcPts val="1800"/>
              </a:lnSpc>
              <a:buNone/>
            </a:pPr>
            <a:r>
              <a:rPr lang="en-US" sz="1300" dirty="0">
                <a:solidFill>
                  <a:srgbClr val="14243D"/>
                </a:solidFill>
                <a:latin typeface="Calibri" pitchFamily="34" charset="0"/>
                <a:ea typeface="Calibri" pitchFamily="34" charset="-122"/>
                <a:cs typeface="Calibri" pitchFamily="34" charset="-120"/>
              </a:rPr>
              <a:t>Every one of these is measured and written down. A limit somebody knows about is a plan; a limit nobody mentions is an incident.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D33"/>
        </a:solidFill>
      </p:bgPr>
    </p:bg>
    <p:spTree>
      <p:nvGrpSpPr>
        <p:cNvPr id="1" name=""/>
        <p:cNvGrpSpPr/>
        <p:nvPr/>
      </p:nvGrpSpPr>
      <p:grpSpPr>
        <a:xfrm>
          <a:off x="0" y="0"/>
          <a:ext cx="0" cy="0"/>
          <a:chOff x="0" y="0"/>
          <a:chExt cx="0" cy="0"/>
        </a:xfrm>
      </p:grpSpPr>
      <p:sp>
        <p:nvSpPr>
          <p:cNvPr id="2" name="Shape 0"/>
          <p:cNvSpPr/>
          <p:nvPr/>
        </p:nvSpPr>
        <p:spPr>
          <a:xfrm>
            <a:off x="841248" y="1847088"/>
            <a:ext cx="146304" cy="146304"/>
          </a:xfrm>
          <a:prstGeom prst="ellipse">
            <a:avLst/>
          </a:prstGeom>
          <a:solidFill>
            <a:srgbClr val="F2A413"/>
          </a:solidFill>
          <a:ln w="12700">
            <a:solidFill>
              <a:srgbClr val="F2A413"/>
            </a:solidFill>
            <a:prstDash val="solid"/>
          </a:ln>
        </p:spPr>
      </p:sp>
      <p:sp>
        <p:nvSpPr>
          <p:cNvPr id="3" name="Text 1"/>
          <p:cNvSpPr/>
          <p:nvPr/>
        </p:nvSpPr>
        <p:spPr>
          <a:xfrm>
            <a:off x="1097280" y="1828800"/>
            <a:ext cx="5120640" cy="219456"/>
          </a:xfrm>
          <a:prstGeom prst="rect">
            <a:avLst/>
          </a:prstGeom>
          <a:noFill/>
          <a:ln/>
        </p:spPr>
        <p:txBody>
          <a:bodyPr wrap="square" lIns="0" tIns="0" rIns="0" bIns="0" rtlCol="0" anchor="ctr"/>
          <a:lstStyle/>
          <a:p>
            <a:pPr indent="0" marL="0">
              <a:buNone/>
            </a:pPr>
            <a:r>
              <a:rPr lang="en-US" sz="1100" b="1" spc="160" kern="0" dirty="0">
                <a:solidFill>
                  <a:srgbClr val="F2A413"/>
                </a:solidFill>
                <a:latin typeface="Calibri" pitchFamily="34" charset="0"/>
                <a:ea typeface="Calibri" pitchFamily="34" charset="-122"/>
                <a:cs typeface="Calibri" pitchFamily="34" charset="-120"/>
              </a:rPr>
              <a:t>PHASE 1 · PROOF OF CONCEPT</a:t>
            </a:r>
            <a:endParaRPr lang="en-US" sz="1100" dirty="0"/>
          </a:p>
        </p:txBody>
      </p:sp>
      <p:sp>
        <p:nvSpPr>
          <p:cNvPr id="4" name="Text 2"/>
          <p:cNvSpPr/>
          <p:nvPr/>
        </p:nvSpPr>
        <p:spPr>
          <a:xfrm>
            <a:off x="822960" y="2240280"/>
            <a:ext cx="86868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Ready to watch a real floor</a:t>
            </a:r>
            <a:endParaRPr lang="en-US" sz="4000" dirty="0"/>
          </a:p>
        </p:txBody>
      </p:sp>
      <p:sp>
        <p:nvSpPr>
          <p:cNvPr id="5" name="Text 3"/>
          <p:cNvSpPr/>
          <p:nvPr/>
        </p:nvSpPr>
        <p:spPr>
          <a:xfrm>
            <a:off x="841248" y="3383280"/>
            <a:ext cx="6949440" cy="1280160"/>
          </a:xfrm>
          <a:prstGeom prst="rect">
            <a:avLst/>
          </a:prstGeom>
          <a:noFill/>
          <a:ln/>
        </p:spPr>
        <p:txBody>
          <a:bodyPr wrap="square" lIns="0" tIns="0" rIns="0" bIns="0" rtlCol="0" anchor="t"/>
          <a:lstStyle/>
          <a:p>
            <a:pPr algn="l" indent="0" marL="0">
              <a:lnSpc>
                <a:spcPts val="2400"/>
              </a:lnSpc>
              <a:buNone/>
            </a:pPr>
            <a:r>
              <a:rPr lang="en-US" sz="1500" dirty="0">
                <a:solidFill>
                  <a:srgbClr val="C6D2E4"/>
                </a:solidFill>
                <a:latin typeface="Calibri" pitchFamily="34" charset="0"/>
                <a:ea typeface="Calibri" pitchFamily="34" charset="-122"/>
                <a:cs typeface="Calibri" pitchFamily="34" charset="-120"/>
              </a:rPr>
              <a:t>Runs on the cameras already in the building, on a laptop or a GPU in Colab. Nine capabilities, one record, and an honest account of what it can and cannot see.</a:t>
            </a:r>
            <a:endParaRPr lang="en-US" sz="1500" dirty="0"/>
          </a:p>
        </p:txBody>
      </p:sp>
      <p:sp>
        <p:nvSpPr>
          <p:cNvPr id="6" name="Text 4"/>
          <p:cNvSpPr/>
          <p:nvPr/>
        </p:nvSpPr>
        <p:spPr>
          <a:xfrm>
            <a:off x="841248" y="4937760"/>
            <a:ext cx="7315200" cy="365760"/>
          </a:xfrm>
          <a:prstGeom prst="rect">
            <a:avLst/>
          </a:prstGeom>
          <a:noFill/>
          <a:ln/>
        </p:spPr>
        <p:txBody>
          <a:bodyPr wrap="square" lIns="0" tIns="0" rIns="0" bIns="0" rtlCol="0" anchor="ctr"/>
          <a:lstStyle/>
          <a:p>
            <a:pPr indent="0" marL="0">
              <a:buNone/>
            </a:pPr>
            <a:r>
              <a:rPr lang="en-US" sz="1300" dirty="0">
                <a:solidFill>
                  <a:srgbClr val="F2A413"/>
                </a:solidFill>
                <a:latin typeface="Calibri" pitchFamily="34" charset="0"/>
                <a:ea typeface="Calibri" pitchFamily="34" charset="-122"/>
                <a:cs typeface="Calibri" pitchFamily="34" charset="-120"/>
              </a:rPr>
              <a:t>Rootstock Technology  ·  for Vikas Group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Analysis Dashboard</dc:title>
  <dc:subject>PptxGenJS Presentation</dc:subject>
  <dc:creator>Rootstock Technology</dc:creator>
  <cp:lastModifiedBy>Rootstock Technology</cp:lastModifiedBy>
  <cp:revision>1</cp:revision>
  <dcterms:created xsi:type="dcterms:W3CDTF">2026-08-18T07:23:34Z</dcterms:created>
  <dcterms:modified xsi:type="dcterms:W3CDTF">2026-08-18T07:23:34Z</dcterms:modified>
</cp:coreProperties>
</file>